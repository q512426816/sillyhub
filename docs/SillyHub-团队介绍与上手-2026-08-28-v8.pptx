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开场一句话:我们给团队搭了一套「让 AI 靠谱干活」的组合 —— 给 AI 立工艺,为团队建车间。今天四站:认识、上手、场景、行动。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降低听众预期负担:不教技术,只给「能开始用」的最小套装。强调会后即开账号。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用共鸣开场:四个困扰几乎人人遇到过。右卡片给结论:不是 AI 的问题,是缺方法 —— 我们把方法做成了工艺和车间。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全场核心页,多停一停:工艺管「怎么做对」(方法),车间管「在哪干、看得见」(承载)。中间连线:同一份档案。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车间篇走读:四场景都是「你→得到」句式。放映提示:点右上角「▶ 实拍演示」跳附录 A1,讲完点「◀ 返回」回来。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信任页,讲给领导听:三条底线=管得住。本机执行是最大差异:代码不出网。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对比页给领导:像的有四个,一样的没有。三件刚需:方法论门禁/本机执行/项目管理一体。诚实点出 Multica 是最接近的开源同行,保持关注。若问 crewAI:层级不同 —— 它是写代码的编排引擎(57.7k 星、MIT),把它变成团队平台恰恰是我们建的东西;且它面向通用 LLM 应用,不驱动编程 CLI;MIT 真开源,未来可作集成组件。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 对比页:先承认对方强项(23 种 CLI 接入更广、有桌面端和 Helm),再讲我们的差异在方法论层与交付层。口径:各有所长,需求不同,不贬低对手。放映提示:点「▶ 实拍演示」跳附录 A6(Multica 官方实例),讲完返回。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秒话术:①协议有商用附加条款,二开要过法务;②Go+Electron 栈我们没人能维护;③上游工作日发版,分叉就是永久合并地狱;④我们八成价值(工艺层+PPM)它本来没有,改它=在别人地基盖楼。先承认 48k 星说明方向对、CLI 接入值得借鉴,再给结论 —— 不贬低对手,显得客观。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工艺篇:五段用人话讲,消除「流程重」的顾虑 —— Agent 带着走;quick 通道照顾小事。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配合图:任务流 + 回传流。三种使用姿态自选,推荐开发者网页+CLI。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平台三步,重点在第二步:/runtimes 页「复制命令」粘到终端即完成连接。放映提示:点「▶ 实拍演示」跳附录 A2(守护进程页),讲完返回。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 三步镜像平台三步,降低记忆负担。强调「不装也能用,装了更顺畅」。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 bug 三条路径:自己开干(网页/终端),或被派活(PPM 问题清单指派→挂载会话)。放映提示:点「▶ 实拍演示」跳附录 A3(真实会话),讲完返回。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第二个场景:任务来源两条 + 五段人机分工。放映提示:点「▶ 实拍演示」跳附录 A4(变更中心),讲完返回。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非技术听众专属页:三层可视 + 派发闭环。放映提示:点「▶ 实拍演示」跳附录 A5(PPM 项目计划),讲完返回。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规范页刻意极简:两个选择+三条红线。红线不是限制,是让大家敢放开用的前提。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支持四入口全覆盖:开号/答疑/文档/培训。收尾抛试点邀请,把「听汇报」变成「参与」。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未来页只讲用户可感知的四件事,不提内部技术项。落点:优先级听用户的。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收尾=行动号召:三件事都是会后立刻可做的低门槛动作。Q&amp;A 时可现场开一个账号做演示。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附录演示页:从正文跳转而来,讲完点右上角返回。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附录演示页:从正文跳转而来,讲完点右上角返回。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附录演示页:从正文跳转而来,讲完点右上角返回。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附录演示页:从正文跳转而来,讲完点右上角返回。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附录演示页:从正文跳转而来,讲完点右上角返回。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附录演示页:从正文跳转而来,讲完点右上角返回。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1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slide" Target="slide1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slide" Target="slide15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slide" Target="slide16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669280" cy="5669280"/>
          </a:xfrm>
          <a:prstGeom prst="ellipse">
            <a:avLst/>
          </a:prstGeom>
          <a:solidFill>
            <a:srgbClr val="155E75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241280" y="3108960"/>
            <a:ext cx="2926080" cy="2926080"/>
          </a:xfrm>
          <a:prstGeom prst="ellipse">
            <a:avLst/>
          </a:prstGeom>
          <a:solidFill>
            <a:srgbClr val="8B5CF6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55E75">
              <a:alpha val="7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868680" y="1188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SILLYHUB × SILLYSPEC · 团队介绍与上手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 AI 立工艺,为团队建车间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是不知疲倦的工人:工艺管得住,车间看得见</a:t>
            </a:r>
            <a:r>
              <a:rPr lang="en-US" sz="16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今天介绍,今天就能上手用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已部署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随时可用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3410712"/>
            <a:ext cx="0" cy="658368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3310128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64408" y="3931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种宿主 Agent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50408" y="3410712"/>
            <a:ext cx="0" cy="658368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3310128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60136" y="3931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段规范流程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46136" y="3410712"/>
            <a:ext cx="0" cy="658368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5864" y="3310128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55864" y="3931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步完成上手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今天的路线 · 四站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03520"/>
            <a:ext cx="10543032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51297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9576" y="55778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认识工艺与车间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08576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51297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22192" y="55778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三步上手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32904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2904" y="51297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55778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常见场景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857232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51297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70848" y="55778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规范·支持·未来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54864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2026-08-28 · 面向全员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AGENDA · 今天讲三件事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听完这十五分钟,你能带走什么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不讲技术细节 —— 只讲它们是什么、怎么开始用、遇到问题找谁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392424" cy="2286000"/>
          </a:xfrm>
          <a:prstGeom prst="roundRect">
            <a:avLst>
              <a:gd name="adj" fmla="val 280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认识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76148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工艺与车间是什么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3200400"/>
            <a:ext cx="29077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它们分别解决什么问题,为什么配合起来才靠谱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324612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2103120"/>
            <a:ext cx="3392424" cy="2286000"/>
          </a:xfrm>
          <a:prstGeom prst="roundRect">
            <a:avLst>
              <a:gd name="adj" fmla="val 280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上手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276148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三步开始用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90872" y="3200400"/>
            <a:ext cx="29077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开账号 → 连本机 → 开第一个会话;CLI 同样三步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72984" y="324612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2103120"/>
            <a:ext cx="3392424" cy="2286000"/>
          </a:xfrm>
          <a:prstGeom prst="roundRect">
            <a:avLst>
              <a:gd name="adj" fmla="val 2800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02752" y="2331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场景与行动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02752" y="276148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常见任务怎么走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02752" y="3200400"/>
            <a:ext cx="29077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 bug、开新功能、看进度;规范红线与支持渠道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10543032" cy="68580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1" name="Text 19"/>
          <p:cNvSpPr/>
          <p:nvPr/>
        </p:nvSpPr>
        <p:spPr>
          <a:xfrm>
            <a:off x="1097280" y="48920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听完带走三样: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一个账号(会后即开)· 一条启动命令(复制即用)· 三个场景的操作路径(照着走即可)。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平台已部署 · 全员可用 · 演示将现场实操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6455664"/>
            <a:ext cx="1054303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5" name="Text 23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7" name="Text 25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9" name="Text 27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1" name="Text 29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为什么给大家搭这套东西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相信每个人都遇到过 —— 用 AI 写代码的四个共同困扰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920240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黑箱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63240" y="1920240"/>
            <a:ext cx="4160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改了代码,过程看不懂,出问题不知道它当时为什么这么改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761488"/>
            <a:ext cx="640080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620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620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816352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不敢合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2816352"/>
            <a:ext cx="4160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生成的代码,心里没底;review 速度跟不上生成速度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640080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7581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581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712464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各用各的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63240" y="3712464"/>
            <a:ext cx="4160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有人用 claude、有人用 codex,经验和规范没法共享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553712"/>
            <a:ext cx="640080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6542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542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4608576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留不下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3240" y="4608576"/>
            <a:ext cx="4160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踩过的坑、做过的决策,散在聊天记录里,下次还得再踩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1920240"/>
            <a:ext cx="3730752" cy="3520440"/>
          </a:xfrm>
          <a:prstGeom prst="roundRect">
            <a:avLst>
              <a:gd name="adj" fmla="val 1818"/>
            </a:avLst>
          </a:prstGeom>
          <a:solidFill>
            <a:srgbClr val="0E152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91272" y="2157984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我们的判断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891272" y="256032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问题不在 AI 不够强,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而在缺一套让团队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放心用它的方法。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891272" y="4297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这半年我们把这套方法做成了工具和平台,今天正式交给大家用。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5596128"/>
            <a:ext cx="10543032" cy="38404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0" name="Text 28"/>
          <p:cNvSpPr/>
          <p:nvPr/>
        </p:nvSpPr>
        <p:spPr>
          <a:xfrm>
            <a:off x="1097280" y="5596128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一句话:工艺定标准,车间管落地</a:t>
            </a: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工艺管住 AI 的随意,车间让标准落到每一天的活上。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来源:团队立项背景 · README「为什么用 SillyHub」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6" name="Text 34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8" name="Text 36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0" name="Text 38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2" name="Text 40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/ 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一页看懂:工艺 + 车间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一个定标准,一个管落地 —— 配合起来,AI 才又快又稳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4892040" cy="3063240"/>
          </a:xfrm>
          <a:prstGeom prst="roundRect">
            <a:avLst>
              <a:gd name="adj" fmla="val 2090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CRAFT · 工艺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SillySpec CLI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85292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决定「怎么做对」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97280" y="3383280"/>
            <a:ext cx="109728" cy="109728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1" name="Text 9"/>
          <p:cNvSpPr/>
          <p:nvPr/>
        </p:nvSpPr>
        <p:spPr>
          <a:xfrm>
            <a:off x="1298448" y="331012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先想清楚,再动手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需求不清,代码不动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3895344"/>
            <a:ext cx="109728" cy="109728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3" name="Text 11"/>
          <p:cNvSpPr/>
          <p:nvPr/>
        </p:nvSpPr>
        <p:spPr>
          <a:xfrm>
            <a:off x="1298448" y="3822192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五段流程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每一步有验收才往前走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0" y="4407408"/>
            <a:ext cx="109728" cy="109728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5" name="Text 13"/>
          <p:cNvSpPr/>
          <p:nvPr/>
        </p:nvSpPr>
        <p:spPr>
          <a:xfrm>
            <a:off x="1298448" y="4334256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经验沉淀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踩过的坑,全组不再踩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73952" y="1874520"/>
            <a:ext cx="4892040" cy="3063240"/>
          </a:xfrm>
          <a:prstGeom prst="roundRect">
            <a:avLst>
              <a:gd name="adj" fmla="val 2090"/>
            </a:avLst>
          </a:prstGeom>
          <a:solidFill>
            <a:srgbClr val="121A2F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48272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WORKSHOP · 车间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48272" y="23774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SillyHub 平台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48272" y="285292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管「在哪干、看得见」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48272" y="3383280"/>
            <a:ext cx="109728" cy="109728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1" name="Text 19"/>
          <p:cNvSpPr/>
          <p:nvPr/>
        </p:nvSpPr>
        <p:spPr>
          <a:xfrm>
            <a:off x="6949440" y="331012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本机执行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在你电脑上干活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48272" y="3895344"/>
            <a:ext cx="109728" cy="109728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3" name="Text 21"/>
          <p:cNvSpPr/>
          <p:nvPr/>
        </p:nvSpPr>
        <p:spPr>
          <a:xfrm>
            <a:off x="6949440" y="3822192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协作看板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任务与进度一目了然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48272" y="4407408"/>
            <a:ext cx="109728" cy="109728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5" name="Text 23"/>
          <p:cNvSpPr/>
          <p:nvPr/>
        </p:nvSpPr>
        <p:spPr>
          <a:xfrm>
            <a:off x="6949440" y="4334256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全程留痕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每一步事后翻得到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79008" y="3246120"/>
            <a:ext cx="64008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637276" y="35021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同一份档案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5230368"/>
            <a:ext cx="10543032" cy="64008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9" name="Text 27"/>
          <p:cNvSpPr/>
          <p:nvPr/>
        </p:nvSpPr>
        <p:spPr>
          <a:xfrm>
            <a:off x="1097280" y="5230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工艺定标准,车间管落地</a:t>
            </a:r>
            <a:r>
              <a:rPr lang="en-US" sz="14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AI 是不知疲倦的工人:工艺让它干得对,车间让所有人看得见、管得住。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SillySpec:github.com/q512426816/sillyspec · SillyHub:本团队自研平台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5" name="Text 33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7" name="Text 35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9" name="Text 37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1" name="Text 39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/ 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车间能干什么:四个使用场景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按「你做什么 → 得到什么」来讲 —— 细节留给现场演示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9019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Agent 对话干活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06240" y="19019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开个会话把需求说清楚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2286000"/>
            <a:ext cx="2743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635240" y="1901952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流式看它执行,可追问、可中断、断线能续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798064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077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077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3312" y="283464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提交一个变更任务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206240" y="28346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发起变更,说清目标与边界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23760" y="3218688"/>
            <a:ext cx="2743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35240" y="283464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五段流程推进,门禁你拍板,产出自动归档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73075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404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40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53312" y="376732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看项目进度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06240" y="3767328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打开浏览器即可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23760" y="4151376"/>
            <a:ext cx="2743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35240" y="3767328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看板 / 甘特 / 里程碑,项目健康度一屏掌握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66344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7731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7731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53312" y="470001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文件与知识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206240" y="470001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会话里发文件、收产物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23760" y="5084064"/>
            <a:ext cx="2743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635240" y="4700016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在线预览即点即看,经验沉淀全组复用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5577840"/>
            <a:ext cx="10543032" cy="38404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4" name="Text 32"/>
          <p:cNvSpPr/>
          <p:nvPr/>
        </p:nvSpPr>
        <p:spPr>
          <a:xfrm>
            <a:off x="1097280" y="5577840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四个场景今天都能体验</a:t>
            </a: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后面「三步上手」教你怎么开始。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场景与平台功能一一对应 · 现场演示环节逐一展示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0" name="Text 38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2" name="Text 40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4" name="Text 42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6" name="Text 44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/ 26</a:t>
            </a:r>
            <a:endParaRPr lang="en-US" sz="1100" dirty="0"/>
          </a:p>
        </p:txBody>
      </p:sp>
      <p:sp>
        <p:nvSpPr>
          <p:cNvPr id="48" name="Text 46">
            <a:hlinkClick r:id="rId1" action="ppaction://hlinksldjump"/>
          </p:cNvPr>
          <p:cNvSpPr/>
          <p:nvPr/>
        </p:nvSpPr>
        <p:spPr>
          <a:xfrm>
            <a:off x="9262872" y="566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▶ 实拍演示 P21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为什么放心用:三条底线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把活交给 Agent 的前提,是边界清楚 —— 这三条是承诺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392424" cy="2880360"/>
          </a:xfrm>
          <a:prstGeom prst="roundRect">
            <a:avLst>
              <a:gd name="adj" fmla="val 222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240280"/>
            <a:ext cx="146304" cy="14630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8" name="Text 6"/>
          <p:cNvSpPr/>
          <p:nvPr/>
        </p:nvSpPr>
        <p:spPr>
          <a:xfrm>
            <a:off x="1335024" y="212140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代码不出你的电脑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2697480"/>
            <a:ext cx="2907792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在你本机执行,平台只做调度与展示;代码与文件不上传到别处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392424" cy="2880360"/>
          </a:xfrm>
          <a:prstGeom prst="roundRect">
            <a:avLst>
              <a:gd name="adj" fmla="val 222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2240280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2" name="Text 10"/>
          <p:cNvSpPr/>
          <p:nvPr/>
        </p:nvSpPr>
        <p:spPr>
          <a:xfrm>
            <a:off x="4946904" y="212140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每一步有人把关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2697480"/>
            <a:ext cx="2907792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敏感操作会弹权限卡片等你放行;阶段之间设门禁,该你拍板的绝不跳过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92424" cy="2880360"/>
          </a:xfrm>
          <a:prstGeom prst="roundRect">
            <a:avLst>
              <a:gd name="adj" fmla="val 222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240280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6" name="Text 14"/>
          <p:cNvSpPr/>
          <p:nvPr/>
        </p:nvSpPr>
        <p:spPr>
          <a:xfrm>
            <a:off x="8558784" y="2121408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全程可回溯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02752" y="2697480"/>
            <a:ext cx="2907792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会话日志、变更档案、快速修复记录全部留痕,任何时候翻得到、说得清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257800"/>
            <a:ext cx="10543032" cy="56692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19" name="Text 17"/>
          <p:cNvSpPr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给领导的一句话: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这套平台让「谁批准的、谁改的、为什么改」永远有答案 —— 管得住,才放得开。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对应平台能力:本机 daemon 执行 / 双层审批与门禁 / 会话与变更留痕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5" name="Text 23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7" name="Text 25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9" name="Text 27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1" name="Text 29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/ 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和市面上的方案比一比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我们调研过同类产品 —— 各有所长,但没有一个同时满足我们最看重的三件事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883664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形态与执行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88366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流程治理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0" y="18836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协作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29800" y="1883664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项目交付管理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10689336" cy="658368"/>
          </a:xfrm>
          <a:prstGeom prst="roundRect">
            <a:avLst>
              <a:gd name="adj" fmla="val 8333"/>
            </a:avLst>
          </a:prstGeom>
          <a:solidFill>
            <a:srgbClr val="0E152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12848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SillyHub × SillySpec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88920" y="221284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私有部署 · 代码不出本机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2212848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五段规范 + quick 双轨 · 阶段门禁 · 双层审批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52360" y="2212848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 Agent 编排 · 跨工作区 · 3 层递归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29800" y="2212848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合同/计划/问题/人天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283464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89504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Multica(开源)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88920" y="288950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可自部署 · 本地 daemon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89504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Issue 看板 + review gates,无成体系方法论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52360" y="2889504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Squads 领队派工 · 23 种 CLI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29800" y="2889504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无(仅 issue 看板)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511296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66160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Devin / Factory / Cursor 类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8920" y="356616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云端 SaaS · 云沙箱执行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56616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依赖平台内建流程 · 代码需上云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52360" y="356616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droid / 后台 agent,厂商锁定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29800" y="3566160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无(靠 Jira/Linear 外挂)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18795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42816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OpenHands(开源)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88920" y="424281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可自部署 · 框架级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4242816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治理与流程需自行搭建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52360" y="4242816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框架可扩展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29800" y="4242816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4864608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919472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crewAI(开发框架)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788920" y="491947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库 · 嵌入自己的应用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4919472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流程用 JSON/代码定义,无界面无审批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52360" y="4919472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角色扮演 crew 编排 · 通用场景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29800" y="4919472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无(商业控制平面另售)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2960" y="5632704"/>
            <a:ext cx="10543032" cy="45720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42" name="Text 40"/>
          <p:cNvSpPr/>
          <p:nvPr/>
        </p:nvSpPr>
        <p:spPr>
          <a:xfrm>
            <a:off x="1097280" y="56327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像的不少,一样的没有:</a:t>
            </a:r>
            <a:r>
              <a:rPr lang="en-US" sz="13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「规范方法论 + 本机执行 + 项目交付管理」三位一体,市面上没有现成品 —— 这就是自研并值得用的理由。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来源:各产品官网/GitHub 调研(2026-08):multica · cognition · openhands · factory · crewai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8" name="Text 46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50" name="Text 48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52" name="Text 50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54" name="Text 52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/ 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详细对比:Multica vs SillyHub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同为「本机执行 + 可自部署」路线 —— 它是出色的协作看板,我们多出工艺层与交付层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81051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Multica(开源)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86600" y="1810512"/>
            <a:ext cx="4279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SillyHub × SillySpec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2084832"/>
            <a:ext cx="4462272" cy="3566160"/>
          </a:xfrm>
          <a:prstGeom prst="roundRect">
            <a:avLst>
              <a:gd name="adj" fmla="val 1538"/>
            </a:avLst>
          </a:prstGeom>
          <a:solidFill>
            <a:srgbClr val="0E152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21408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定位与中心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121408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看板为中心的人机协作工作区,agent 是看板成员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86600" y="2121408"/>
            <a:ext cx="42793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变更流程为中心的规范驱动平台,先有规格后有代码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688336"/>
            <a:ext cx="87142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06624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部署与形态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706624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SaaS · 桌面客户端 · 自部署(Docker/Helm)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86600" y="2706624"/>
            <a:ext cx="42793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私有部署(Docker Compose) · 浏览器访问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3273552"/>
            <a:ext cx="87142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91840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接入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291840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 种 agent CLI · 本身不内置模型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3291840"/>
            <a:ext cx="42793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种宿主 + 提供商管理 + 平台共享智能体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3858768"/>
            <a:ext cx="87142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77056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 协作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877056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Squads 领队派工 · Autopilots 定时任务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86600" y="3877056"/>
            <a:ext cx="42793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 Agent 动态编排 · 3 层递归 · 预算强收 · 跨工作区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14600" y="4443984"/>
            <a:ext cx="87142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62272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流程治理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4462272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 gates · Skills playbook · 角色与审计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86600" y="4462272"/>
            <a:ext cx="42793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五段规格+quick · 双层审批 · worktree 隔离 · grants 授权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14600" y="5029200"/>
            <a:ext cx="87142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047488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交付与沉淀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14600" y="5047488"/>
            <a:ext cx="4480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issue 看板 · Autopilots 报告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86600" y="5047488"/>
            <a:ext cx="42793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合同/计划/人天 · 知识库 · 219 个归档变更档案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5760720"/>
            <a:ext cx="10543032" cy="310896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4" name="Text 32"/>
          <p:cNvSpPr/>
          <p:nvPr/>
        </p:nvSpPr>
        <p:spPr>
          <a:xfrm>
            <a:off x="1097280" y="576072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一句话:</a:t>
            </a: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Multica 管「人和 agent 一起干活」;我们多管两层 —— 怎么干才对(工艺),干完怎么交付(车间)。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来源:Multica GitHub 官方页面(2026-08 抓取)· 本仓库 README/ROADMAP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0" name="Text 38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2" name="Text 40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4" name="Text 42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6" name="Text 44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/ 26</a:t>
            </a:r>
            <a:endParaRPr lang="en-US" sz="1100" dirty="0"/>
          </a:p>
        </p:txBody>
      </p:sp>
      <p:sp>
        <p:nvSpPr>
          <p:cNvPr id="48" name="Text 46">
            <a:hlinkClick r:id="rId1" action="ppaction://hlinksldjump"/>
          </p:cNvPr>
          <p:cNvSpPr/>
          <p:nvPr/>
        </p:nvSpPr>
        <p:spPr>
          <a:xfrm>
            <a:off x="9262872" y="566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▶ 实拍演示 P26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预备追问:都是开源,为什么不基于 Multica 改造?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认真评估过 fork 路线 —— 结论是「得到两成,背上八成」,四条理由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0704" y="21671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55E75"/>
          </a:solidFill>
        </p:spPr>
      </p:sp>
      <p:sp>
        <p:nvSpPr>
          <p:cNvPr id="8" name="Text 6"/>
          <p:cNvSpPr/>
          <p:nvPr/>
        </p:nvSpPr>
        <p:spPr>
          <a:xfrm>
            <a:off x="1060704" y="21671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36192" y="213055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协议并非纯开源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8992" y="2569464"/>
            <a:ext cx="4617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Multica License = Apache 2.0 + 托管服务/商用嵌入/品牌附加条款;企业二开需法务评估。自研代码 100% 自有,零合规顾虑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83096" y="21671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55E75"/>
          </a:solidFill>
        </p:spPr>
      </p:sp>
      <p:sp>
        <p:nvSpPr>
          <p:cNvPr id="13" name="Text 11"/>
          <p:cNvSpPr/>
          <p:nvPr/>
        </p:nvSpPr>
        <p:spPr>
          <a:xfrm>
            <a:off x="6483096" y="21671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58584" y="213055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技术栈错位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01384" y="2569464"/>
            <a:ext cx="4617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 Go 后端 + Electron 桌面端;我们团队资产在 Python/FastAPI + Node daemon + PPM 域 —— fork 等于接管一个无人能维护的栈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593592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0704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55E75"/>
          </a:solidFill>
        </p:spPr>
      </p:sp>
      <p:sp>
        <p:nvSpPr>
          <p:cNvPr id="18" name="Text 16"/>
          <p:cNvSpPr/>
          <p:nvPr/>
        </p:nvSpPr>
        <p:spPr>
          <a:xfrm>
            <a:off x="1060704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36192" y="3758184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分叉是永久成本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78992" y="4197096"/>
            <a:ext cx="4617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上游每个工作日发版(5,050 commits · 48k stars 高速演进);分叉后要么冻结掉队,要么长期合并冲突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3593592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83096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55E75"/>
          </a:solidFill>
        </p:spPr>
      </p:sp>
      <p:sp>
        <p:nvSpPr>
          <p:cNvPr id="23" name="Text 21"/>
          <p:cNvSpPr/>
          <p:nvPr/>
        </p:nvSpPr>
        <p:spPr>
          <a:xfrm>
            <a:off x="6483096" y="37947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58584" y="3758184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核心价值它本来没有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501384" y="4197096"/>
            <a:ext cx="4617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它白送看板与 daemon 管道(约两成);SillySpec 工艺层与 PPM 交付域(八成)仍要从零建 —— 在别人地基上盖自己的楼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440680"/>
            <a:ext cx="10543032" cy="56692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7" name="Text 25"/>
          <p:cNvSpPr/>
          <p:nvPr/>
        </p:nvSpPr>
        <p:spPr>
          <a:xfrm>
            <a:off x="1097280" y="544068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诚实说:</a:t>
            </a: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48k 星验证了这条路线值得走,23 种 CLI 接入也在我们借鉴清单上 —— 但方法论与交付域才是竞争力,工艺要长在自己的地基上。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来源:Multica GitHub 页面实查(2026-08:48k stars · 5,050 commits · 工作日发版 · Go/Electron 栈)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3" name="Text 31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5" name="Text 33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7" name="Text 35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9" name="Text 37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/ 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工艺怎么规定:五段流程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听起来严格,其实每段都是在帮你省事 —— Agent 会带着你走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286000" cy="841248"/>
          </a:xfrm>
          <a:prstGeom prst="chevron">
            <a:avLst/>
          </a:prstGeom>
          <a:solidFill>
            <a:srgbClr val="155E75"/>
          </a:solidFill>
        </p:spPr>
      </p:sp>
      <p:sp>
        <p:nvSpPr>
          <p:cNvPr id="7" name="Text 5"/>
          <p:cNvSpPr/>
          <p:nvPr/>
        </p:nvSpPr>
        <p:spPr>
          <a:xfrm>
            <a:off x="1078992" y="2286000"/>
            <a:ext cx="1874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把需求说清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236976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brainstorm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529584"/>
            <a:ext cx="193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想不清的,它会问你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71216" y="2286000"/>
            <a:ext cx="2286000" cy="841248"/>
          </a:xfrm>
          <a:prstGeom prst="chevron">
            <a:avLst/>
          </a:prstGeom>
          <a:solidFill>
            <a:srgbClr val="155E75"/>
          </a:solidFill>
        </p:spPr>
      </p:sp>
      <p:sp>
        <p:nvSpPr>
          <p:cNvPr id="11" name="Text 9"/>
          <p:cNvSpPr/>
          <p:nvPr/>
        </p:nvSpPr>
        <p:spPr>
          <a:xfrm>
            <a:off x="3127248" y="2286000"/>
            <a:ext cx="1874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定方案拆任务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71216" y="3236976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529584"/>
            <a:ext cx="193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方案先过你的目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19472" y="2286000"/>
            <a:ext cx="2286000" cy="841248"/>
          </a:xfrm>
          <a:prstGeom prst="chevron">
            <a:avLst/>
          </a:prstGeom>
          <a:solidFill>
            <a:srgbClr val="155E75"/>
          </a:solidFill>
        </p:spPr>
      </p:sp>
      <p:sp>
        <p:nvSpPr>
          <p:cNvPr id="15" name="Text 13"/>
          <p:cNvSpPr/>
          <p:nvPr/>
        </p:nvSpPr>
        <p:spPr>
          <a:xfrm>
            <a:off x="5175504" y="2286000"/>
            <a:ext cx="1874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动手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19472" y="3236976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74336" y="3529584"/>
            <a:ext cx="193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你实时看着它干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67728" y="2286000"/>
            <a:ext cx="2286000" cy="841248"/>
          </a:xfrm>
          <a:prstGeom prst="chevron">
            <a:avLst/>
          </a:prstGeom>
          <a:solidFill>
            <a:srgbClr val="155E75"/>
          </a:solidFill>
        </p:spPr>
      </p:sp>
      <p:sp>
        <p:nvSpPr>
          <p:cNvPr id="19" name="Text 17"/>
          <p:cNvSpPr/>
          <p:nvPr/>
        </p:nvSpPr>
        <p:spPr>
          <a:xfrm>
            <a:off x="7223760" y="2286000"/>
            <a:ext cx="1874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67728" y="3236976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22592" y="3529584"/>
            <a:ext cx="193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对照目标逐项核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5984" y="2286000"/>
            <a:ext cx="2286000" cy="841248"/>
          </a:xfrm>
          <a:prstGeom prst="chevron">
            <a:avLst/>
          </a:prstGeom>
          <a:solidFill>
            <a:srgbClr val="8B5CF6"/>
          </a:solidFill>
        </p:spPr>
      </p:sp>
      <p:sp>
        <p:nvSpPr>
          <p:cNvPr id="23" name="Text 21"/>
          <p:cNvSpPr/>
          <p:nvPr/>
        </p:nvSpPr>
        <p:spPr>
          <a:xfrm>
            <a:off x="9272016" y="2286000"/>
            <a:ext cx="1874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归档沉淀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15984" y="3236976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70848" y="3529584"/>
            <a:ext cx="193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文档里程碑自动留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↑ 阶段之间有门禁,不能跳 —— 该你拍板的地方,一定等你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4800600"/>
            <a:ext cx="10543032" cy="73152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8" name="Text 26"/>
          <p:cNvSpPr/>
          <p:nvPr/>
        </p:nvSpPr>
        <p:spPr>
          <a:xfrm>
            <a:off x="1097280" y="48006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小改动有快速通道:</a:t>
            </a:r>
            <a:r>
              <a:rPr lang="en-US" sz="15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sillyspec run quick</a:t>
            </a: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一分钟留痕,不用走全流程;修个 bug、调句文案,就该这么快。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SillySpec CLI 五段流程 · 与平台变更中心完全同构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4" name="Text 32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6" name="Text 34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8" name="Text 36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0" name="Text 38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工艺与车间如何配合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一张图看懂:任务从你出发,标准由工艺定,活在车间里干成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45059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你发起任务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网页会话 或 终端命令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880360"/>
            <a:ext cx="22860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228600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245059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工艺定标准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生成规格 · 设门禁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880360"/>
            <a:ext cx="22860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28600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45059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车间去执行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daemon 在你本机调 Agent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41080" y="2880360"/>
            <a:ext cx="22860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15400" y="228600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0" y="245059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平台呈现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006840" y="28346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 · 产出 · 留痕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104120" y="3474720"/>
            <a:ext cx="0" cy="502920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0" y="3977640"/>
            <a:ext cx="8092440" cy="0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011680" y="3474720"/>
            <a:ext cx="0" cy="502920"/>
          </a:xfrm>
          <a:prstGeom prst="line">
            <a:avLst/>
          </a:prstGeom>
          <a:noFill/>
          <a:ln w="15875">
            <a:solidFill>
              <a:srgbClr val="0891B2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3017520" y="4041648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过程与产出实时回传 —— 你在网页上看着它干活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4709160"/>
            <a:ext cx="3392424" cy="566928"/>
          </a:xfrm>
          <a:prstGeom prst="roundRect">
            <a:avLst>
              <a:gd name="adj" fmla="val 14516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09160"/>
            <a:ext cx="33924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只用网页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最简,零安装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4709160"/>
            <a:ext cx="3392424" cy="566928"/>
          </a:xfrm>
          <a:prstGeom prst="roundRect">
            <a:avLst>
              <a:gd name="adj" fmla="val 14516"/>
            </a:avLst>
          </a:prstGeom>
          <a:solidFill>
            <a:srgbClr val="0E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709160"/>
            <a:ext cx="33924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 + CLI(推荐)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开发者的完全体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4709160"/>
            <a:ext cx="3392424" cy="566928"/>
          </a:xfrm>
          <a:prstGeom prst="roundRect">
            <a:avLst>
              <a:gd name="adj" fmla="val 14516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4709160"/>
            <a:ext cx="33924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只用 CLI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终端党也支持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daemon 连接平台与宿主 Agent · 规格与档案两侧同一份(.sillyspec/)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6455664"/>
            <a:ext cx="131673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6455664"/>
            <a:ext cx="922629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3911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89404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6" name="Text 34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8" name="Text 36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0" name="Text 38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2" name="Text 40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平台三步:开账号 → 连本机 → 开会话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全程约 10 分钟;卡住任何一步,群里喊一声就有人帮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392424" cy="3246120"/>
          </a:xfrm>
          <a:prstGeom prst="roundRect">
            <a:avLst>
              <a:gd name="adj" fmla="val 197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057400"/>
            <a:ext cx="1673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2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3408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开通与登录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78992" y="29535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1" name="Text 9"/>
          <p:cNvSpPr/>
          <p:nvPr/>
        </p:nvSpPr>
        <p:spPr>
          <a:xfrm>
            <a:off x="1261872" y="28712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找管理员开通账号(用户名+初始密码)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78992" y="34107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3" name="Text 11"/>
          <p:cNvSpPr/>
          <p:nvPr/>
        </p:nvSpPr>
        <p:spPr>
          <a:xfrm>
            <a:off x="1261872" y="33284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浏览器打开平台地址(内网 :8001)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38679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5" name="Text 13"/>
          <p:cNvSpPr/>
          <p:nvPr/>
        </p:nvSpPr>
        <p:spPr>
          <a:xfrm>
            <a:off x="1261872" y="37856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首次登录修改密码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1874520"/>
            <a:ext cx="3392424" cy="3246120"/>
          </a:xfrm>
          <a:prstGeom prst="roundRect">
            <a:avLst>
              <a:gd name="adj" fmla="val 197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057400"/>
            <a:ext cx="1673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5 分钟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0872" y="23408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连上你的电脑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690872" y="29535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1" name="Text 19"/>
          <p:cNvSpPr/>
          <p:nvPr/>
        </p:nvSpPr>
        <p:spPr>
          <a:xfrm>
            <a:off x="4873752" y="28712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进入「守护进程」页,点「复制命令」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90872" y="34107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3" name="Text 21"/>
          <p:cNvSpPr/>
          <p:nvPr/>
        </p:nvSpPr>
        <p:spPr>
          <a:xfrm>
            <a:off x="4873752" y="33284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本机终端粘贴运行,token 自动带上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90872" y="38679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5" name="Text 23"/>
          <p:cNvSpPr/>
          <p:nvPr/>
        </p:nvSpPr>
        <p:spPr>
          <a:xfrm>
            <a:off x="4873752" y="37856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页面看到本机状态变「在线」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90872" y="4297680"/>
            <a:ext cx="2880360" cy="658368"/>
          </a:xfrm>
          <a:prstGeom prst="roundRect">
            <a:avLst>
              <a:gd name="adj" fmla="val 6944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297680"/>
            <a:ext cx="2697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sillyhub-daemon start --server &lt;平台地址&gt; --token ****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1874520"/>
            <a:ext cx="3392424" cy="3246120"/>
          </a:xfrm>
          <a:prstGeom prst="roundRect">
            <a:avLst>
              <a:gd name="adj" fmla="val 197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2752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0" y="2057400"/>
            <a:ext cx="1673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1 分钟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02752" y="23408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开第一个会话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302752" y="29535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3" name="Text 31"/>
          <p:cNvSpPr/>
          <p:nvPr/>
        </p:nvSpPr>
        <p:spPr>
          <a:xfrm>
            <a:off x="8485632" y="28712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新建会话:选工作区、选 Agent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02752" y="34107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5" name="Text 33"/>
          <p:cNvSpPr/>
          <p:nvPr/>
        </p:nvSpPr>
        <p:spPr>
          <a:xfrm>
            <a:off x="8485632" y="33284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把需求直接说清楚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02752" y="38679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7" name="Text 35"/>
          <p:cNvSpPr/>
          <p:nvPr/>
        </p:nvSpPr>
        <p:spPr>
          <a:xfrm>
            <a:off x="8485632" y="37856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流式看它干活,随时追问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2960" y="5349240"/>
            <a:ext cx="10543032" cy="56692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9" name="Text 37"/>
          <p:cNvSpPr/>
          <p:nvPr/>
        </p:nvSpPr>
        <p:spPr>
          <a:xfrm>
            <a:off x="1097280" y="53492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前置条件:</a:t>
            </a:r>
            <a:r>
              <a:rPr lang="en-US" sz="13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本机需 Node.js ≥ 20 和至少一个宿主 Agent(claude / codex 等);没装不要慌 —— 管理员有现成的一键指引。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命令与流程来自 sillyhub-daemon/README.md「启动」节;token 从平台复制,请勿手填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" y="6455664"/>
            <a:ext cx="39593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82312" y="6455664"/>
            <a:ext cx="658368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4" name="Text 42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81728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2020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7" name="Text 45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9" name="Text 47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51" name="Text 49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26</a:t>
            </a:r>
            <a:endParaRPr lang="en-US" sz="1100" dirty="0"/>
          </a:p>
        </p:txBody>
      </p:sp>
      <p:sp>
        <p:nvSpPr>
          <p:cNvPr id="53" name="Text 51">
            <a:hlinkClick r:id="rId1" action="ppaction://hlinksldjump"/>
          </p:cNvPr>
          <p:cNvSpPr/>
          <p:nvPr/>
        </p:nvSpPr>
        <p:spPr>
          <a:xfrm>
            <a:off x="9262872" y="566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▶ 实拍演示 P22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 三步:安装 → 初始化 → 日常使用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推荐每位开发者都装上 —— 装了之后,终端和网页看的是同一份档案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392424" cy="3246120"/>
          </a:xfrm>
          <a:prstGeom prst="roundRect">
            <a:avLst>
              <a:gd name="adj" fmla="val 197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05740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3408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装上工艺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78992" y="29535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1" name="Text 9"/>
          <p:cNvSpPr/>
          <p:nvPr/>
        </p:nvSpPr>
        <p:spPr>
          <a:xfrm>
            <a:off x="1261872" y="28712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打开终端,执行一行命令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78992" y="34107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3" name="Text 11"/>
          <p:cNvSpPr/>
          <p:nvPr/>
        </p:nvSpPr>
        <p:spPr>
          <a:xfrm>
            <a:off x="1261872" y="33284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全局安装,一分钟完成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4041648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041648"/>
            <a:ext cx="2697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npm install -g sillyspec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874520"/>
            <a:ext cx="3392424" cy="3246120"/>
          </a:xfrm>
          <a:prstGeom prst="roundRect">
            <a:avLst>
              <a:gd name="adj" fmla="val 197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05740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0872" y="23408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在你的仓库初始化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690872" y="29535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1" name="Text 19"/>
          <p:cNvSpPr/>
          <p:nvPr/>
        </p:nvSpPr>
        <p:spPr>
          <a:xfrm>
            <a:off x="4873752" y="28712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cd 到你的项目仓库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90872" y="34107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3" name="Text 21"/>
          <p:cNvSpPr/>
          <p:nvPr/>
        </p:nvSpPr>
        <p:spPr>
          <a:xfrm>
            <a:off x="4873752" y="33284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init,选你用的 Agent 工具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90872" y="38679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5" name="Text 23"/>
          <p:cNvSpPr/>
          <p:nvPr/>
        </p:nvSpPr>
        <p:spPr>
          <a:xfrm>
            <a:off x="4873752" y="37856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自动生成 .sillyspec/ 与指令文件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90872" y="4297680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297680"/>
            <a:ext cx="2697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sillyspec init --tool claude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1874520"/>
            <a:ext cx="3392424" cy="3246120"/>
          </a:xfrm>
          <a:prstGeom prst="roundRect">
            <a:avLst>
              <a:gd name="adj" fmla="val 1972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2752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0" y="205740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02752" y="23408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日常两种节奏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302752" y="29535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3" name="Text 31"/>
          <p:cNvSpPr/>
          <p:nvPr/>
        </p:nvSpPr>
        <p:spPr>
          <a:xfrm>
            <a:off x="8485632" y="28712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小修小改:quick 一分钟留痕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02752" y="3410712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5" name="Text 33"/>
          <p:cNvSpPr/>
          <p:nvPr/>
        </p:nvSpPr>
        <p:spPr>
          <a:xfrm>
            <a:off x="8485632" y="3328416"/>
            <a:ext cx="2743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正式功能:五段流程,Agent 带着走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02752" y="4041648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041648"/>
            <a:ext cx="2697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sillyspec run quick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5349240"/>
            <a:ext cx="10543032" cy="56692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9" name="Text 37"/>
          <p:cNvSpPr/>
          <p:nvPr/>
        </p:nvSpPr>
        <p:spPr>
          <a:xfrm>
            <a:off x="1097280" y="53492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不装 CLI 也能用平台;</a:t>
            </a:r>
            <a:r>
              <a:rPr lang="en-US" sz="13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装了之后你在终端做的事,团队在平台上都看得到同一份记录 —— 规范不靠自觉,靠顺手。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安装命令经仓库文档核实(sillyspec-doctor skill);init 参数见 sillyspec-init skill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" y="6455664"/>
            <a:ext cx="39593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82312" y="6455664"/>
            <a:ext cx="658368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4" name="Text 42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81728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2020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7" name="Text 45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9" name="Text 47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51" name="Text 49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场景① 修个小 bug / 小改动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三条路径任选 —— 也可以从 PPM 的问题清单派发给你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392424" cy="3017520"/>
          </a:xfrm>
          <a:prstGeom prst="roundRect">
            <a:avLst>
              <a:gd name="adj" fmla="val 2121"/>
            </a:avLst>
          </a:prstGeom>
          <a:solidFill>
            <a:srgbClr val="121A2F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17627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A · 网页会话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78992" y="2715768"/>
            <a:ext cx="100584" cy="10058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9" name="Text 7"/>
          <p:cNvSpPr/>
          <p:nvPr/>
        </p:nvSpPr>
        <p:spPr>
          <a:xfrm>
            <a:off x="1261872" y="26334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打开会话,直接说「修复 xx」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78992" y="3191256"/>
            <a:ext cx="100584" cy="10058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1" name="Text 9"/>
          <p:cNvSpPr/>
          <p:nvPr/>
        </p:nvSpPr>
        <p:spPr>
          <a:xfrm>
            <a:off x="1261872" y="310896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看它定位、修改、自查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78992" y="3666744"/>
            <a:ext cx="100584" cy="10058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3" name="Text 11"/>
          <p:cNvSpPr/>
          <p:nvPr/>
        </p:nvSpPr>
        <p:spPr>
          <a:xfrm>
            <a:off x="1261872" y="3584448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完成即留痕,零额外操作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4224528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24528"/>
            <a:ext cx="2697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新建会话 → 说需求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98264" y="1965960"/>
            <a:ext cx="3392424" cy="3017520"/>
          </a:xfrm>
          <a:prstGeom prst="roundRect">
            <a:avLst>
              <a:gd name="adj" fmla="val 2121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217627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B · 终端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54296" y="2715768"/>
            <a:ext cx="100584" cy="10058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9" name="Text 17"/>
          <p:cNvSpPr/>
          <p:nvPr/>
        </p:nvSpPr>
        <p:spPr>
          <a:xfrm>
            <a:off x="4837176" y="26334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在你的仓库里执行 quick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54296" y="3191256"/>
            <a:ext cx="100584" cy="10058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1" name="Text 19"/>
          <p:cNvSpPr/>
          <p:nvPr/>
        </p:nvSpPr>
        <p:spPr>
          <a:xfrm>
            <a:off x="4837176" y="310896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CLI 引导完成修复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54296" y="3666744"/>
            <a:ext cx="100584" cy="10058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3" name="Text 21"/>
          <p:cNvSpPr/>
          <p:nvPr/>
        </p:nvSpPr>
        <p:spPr>
          <a:xfrm>
            <a:off x="4837176" y="3584448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ql-ID,可追溯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54296" y="4224528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4224528"/>
            <a:ext cx="2697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sillyspec run quick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1965960"/>
            <a:ext cx="3392424" cy="3017520"/>
          </a:xfrm>
          <a:prstGeom prst="roundRect">
            <a:avLst>
              <a:gd name="adj" fmla="val 2121"/>
            </a:avLst>
          </a:prstGeom>
          <a:solidFill>
            <a:srgbClr val="121A2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217627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 C · PPM 派发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2715768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9" name="Text 27"/>
          <p:cNvSpPr/>
          <p:nvPr/>
        </p:nvSpPr>
        <p:spPr>
          <a:xfrm>
            <a:off x="8412480" y="26334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PM 在问题清单登记问题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3191256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1" name="Text 29"/>
          <p:cNvSpPr/>
          <p:nvPr/>
        </p:nvSpPr>
        <p:spPr>
          <a:xfrm>
            <a:off x="8412480" y="310896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指派到人,责任清晰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666744"/>
            <a:ext cx="100584" cy="10058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3" name="Text 31"/>
          <p:cNvSpPr/>
          <p:nvPr/>
        </p:nvSpPr>
        <p:spPr>
          <a:xfrm>
            <a:off x="8412480" y="3584448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领任务后挂载会话开工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0" y="4224528"/>
            <a:ext cx="2880360" cy="512064"/>
          </a:xfrm>
          <a:prstGeom prst="roundRect">
            <a:avLst>
              <a:gd name="adj" fmla="val 89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4224528"/>
            <a:ext cx="2697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问题清单 → 指派 → 挂载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5230368"/>
            <a:ext cx="10543032" cy="56692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7" name="Text 35"/>
          <p:cNvSpPr/>
          <p:nvPr/>
        </p:nvSpPr>
        <p:spPr>
          <a:xfrm>
            <a:off x="1097280" y="5230368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殊途同归:再小的修复也有记录</a:t>
            </a: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三条路径进的是同一份档案,半年后翻得到「当时为什么这么改」。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QUICKLOG 与会话留痕同源 · PPM 问题清单支持指派与挂载(现场演示)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" y="6455664"/>
            <a:ext cx="65836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6455664"/>
            <a:ext cx="395935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2" name="Text 40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4" name="Text 42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0605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56348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7" name="Text 45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9" name="Text 47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26</a:t>
            </a:r>
            <a:endParaRPr lang="en-US" sz="1100" dirty="0"/>
          </a:p>
        </p:txBody>
      </p:sp>
      <p:sp>
        <p:nvSpPr>
          <p:cNvPr id="51" name="Text 49">
            <a:hlinkClick r:id="rId1" action="ppaction://hlinksldjump"/>
          </p:cNvPr>
          <p:cNvSpPr/>
          <p:nvPr/>
        </p:nvSpPr>
        <p:spPr>
          <a:xfrm>
            <a:off x="9262872" y="566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▶ 实拍演示 P23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场景② 开发一个新功能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走五段流程 —— 你只在两头花时间,中间的重活交给 Agent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83664"/>
            <a:ext cx="5120640" cy="640080"/>
          </a:xfrm>
          <a:prstGeom prst="roundRect">
            <a:avLst>
              <a:gd name="adj" fmla="val 10000"/>
            </a:avLst>
          </a:prstGeom>
          <a:solidFill>
            <a:srgbClr val="121A2F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2416" y="188366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任务来源 ① · 自己发起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在变更中心直接发起,适合你自己的改进想法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883664"/>
            <a:ext cx="5120640" cy="640080"/>
          </a:xfrm>
          <a:prstGeom prst="roundRect">
            <a:avLst>
              <a:gd name="adj" fmla="val 10000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4808" y="188366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任务来源 ② · PPM 派发  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计划节点 / 问题清单指派给你,一键挂载会话开工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27248"/>
            <a:ext cx="10543032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17904" y="3044952"/>
            <a:ext cx="164592" cy="16459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06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你拍板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说目标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3694176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你发起变更,写清目标与边界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9272" y="3063240"/>
            <a:ext cx="128016" cy="12801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16" name="Text 14"/>
          <p:cNvSpPr/>
          <p:nvPr/>
        </p:nvSpPr>
        <p:spPr>
          <a:xfrm>
            <a:off x="2606040" y="33649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2032" y="3694176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brainstorm:想不清的它问你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84064" y="3044952"/>
            <a:ext cx="164592" cy="16459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606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你拍板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33649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定方案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25112" y="3694176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plan:方案先过你的目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85432" y="3063240"/>
            <a:ext cx="128016" cy="12801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3" name="Text 21"/>
          <p:cNvSpPr/>
          <p:nvPr/>
        </p:nvSpPr>
        <p:spPr>
          <a:xfrm>
            <a:off x="6172200" y="33649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08192" y="3694176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execute:Agent 干,你看着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50224" y="3044952"/>
            <a:ext cx="164592" cy="16459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606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你拍板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33649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91272" y="3694176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verify:对照目标逐项核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51592" y="3063240"/>
            <a:ext cx="128016" cy="12801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0" name="Text 28"/>
          <p:cNvSpPr/>
          <p:nvPr/>
        </p:nvSpPr>
        <p:spPr>
          <a:xfrm>
            <a:off x="9738360" y="33649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归档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74352" y="3694176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archive:文档里程碑自动留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663440"/>
            <a:ext cx="10543032" cy="73152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33" name="Text 31"/>
          <p:cNvSpPr/>
          <p:nvPr/>
        </p:nvSpPr>
        <p:spPr>
          <a:xfrm>
            <a:off x="1097280" y="46634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你的时间只花在两头:</a:t>
            </a:r>
            <a:r>
              <a:rPr lang="en-US" sz="1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开头把需求说清,结尾把结果验收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中间的体力活(查代码、写实现、补测试)交给 Agent,它干的你全程看得见。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023360" y="5650992"/>
            <a:ext cx="118872" cy="118872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5" name="Text 33"/>
          <p:cNvSpPr/>
          <p:nvPr/>
        </p:nvSpPr>
        <p:spPr>
          <a:xfrm>
            <a:off x="4224528" y="55595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你拍板的节点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949440" y="5650992"/>
            <a:ext cx="118872" cy="118872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7" name="Text 35"/>
          <p:cNvSpPr/>
          <p:nvPr/>
        </p:nvSpPr>
        <p:spPr>
          <a:xfrm>
            <a:off x="7150608" y="55595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主导的节点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任务来源:变更中心自发 / PPM 计划与问题清单派发 · 五段流程与门禁(现场演示)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" y="6455664"/>
            <a:ext cx="65836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6455664"/>
            <a:ext cx="395935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2" name="Text 40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4" name="Text 42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0605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56348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7" name="Text 45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49" name="Text 47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26</a:t>
            </a:r>
            <a:endParaRPr lang="en-US" sz="1100" dirty="0"/>
          </a:p>
        </p:txBody>
      </p:sp>
      <p:sp>
        <p:nvSpPr>
          <p:cNvPr id="51" name="Text 49">
            <a:hlinkClick r:id="rId1" action="ppaction://hlinksldjump"/>
          </p:cNvPr>
          <p:cNvSpPr/>
          <p:nvPr/>
        </p:nvSpPr>
        <p:spPr>
          <a:xfrm>
            <a:off x="9262872" y="566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▶ 实拍演示 P24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场景③ 我是 PM / 领导,想看进度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零安装 —— 一个浏览器账号,数据实时,不用等人汇报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947672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看进度 · 派任务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63240" y="1947672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看板 / 甘特 / 问题清单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947672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计划节点与问题清单可派发到人;进度一屏掌握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1181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18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3026664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看过程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63240" y="3026664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变更中心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026664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谁在做什么、到哪个阶段、卡在哪,实时可见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05079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1970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970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53312" y="4105656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看细节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63240" y="4105656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会话日志(只读)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4105656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每一步做了什么、改了哪些文件,明明白白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10543032" cy="54864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4" name="Text 22"/>
          <p:cNvSpPr/>
          <p:nvPr/>
        </p:nvSpPr>
        <p:spPr>
          <a:xfrm>
            <a:off x="1097280" y="5440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给管理者的价值: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时代的透明工程 —— 进度、过程、产物三层可视,信任不再靠口头汇报。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已投产运行 · 只读视角不影响开发工作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6455664"/>
            <a:ext cx="65836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6455664"/>
            <a:ext cx="395935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9" name="Text 27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1" name="Text 29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0605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56348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4" name="Text 32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89820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6" name="Text 34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26</a:t>
            </a:r>
            <a:endParaRPr lang="en-US" sz="1100" dirty="0"/>
          </a:p>
        </p:txBody>
      </p:sp>
      <p:sp>
        <p:nvSpPr>
          <p:cNvPr id="38" name="Text 36">
            <a:hlinkClick r:id="rId1" action="ppaction://hlinksldjump"/>
          </p:cNvPr>
          <p:cNvSpPr/>
          <p:nvPr/>
        </p:nvSpPr>
        <p:spPr>
          <a:xfrm>
            <a:off x="9262872" y="566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▶ 实拍演示 P25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使用规范与三条红线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规范只有两条选择,红线只有三条 —— 记住就能安全地快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120640" cy="3017520"/>
          </a:xfrm>
          <a:prstGeom prst="roundRect">
            <a:avLst>
              <a:gd name="adj" fmla="val 21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194560"/>
            <a:ext cx="137160" cy="13716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1353312" y="2066544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怎么选流程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651760"/>
            <a:ext cx="4572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小修小改 → quick 快速通道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bug 修复、文案调整、小优化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3364992"/>
            <a:ext cx="4572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正式功能 → 五段变更流程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新功能、重构、影响面大的改动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4078224"/>
            <a:ext cx="4572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影响他人的改动 → 必过门禁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公共模块、配置、上线相关,必须评审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1920240"/>
            <a:ext cx="5120640" cy="3017520"/>
          </a:xfrm>
          <a:prstGeom prst="roundRect">
            <a:avLst>
              <a:gd name="adj" fmla="val 21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9672" y="2194560"/>
            <a:ext cx="137160" cy="1371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2"/>
          <p:cNvSpPr/>
          <p:nvPr/>
        </p:nvSpPr>
        <p:spPr>
          <a:xfrm>
            <a:off x="6775704" y="2066544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三条红线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572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不存放敏感凭据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密码、密钥不进平台与会话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364992"/>
            <a:ext cx="4572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不越权访问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只看自己有权限的工作区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078224"/>
            <a:ext cx="4572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未验收不使用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产物过验收才进主干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230368"/>
            <a:ext cx="10543032" cy="54864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19" name="Text 17"/>
          <p:cNvSpPr/>
          <p:nvPr/>
        </p:nvSpPr>
        <p:spPr>
          <a:xfrm>
            <a:off x="1097280" y="5230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遇到问题怎么办: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 + 一句话说明发到支持群 —— 当天响应;平台问题我们修,使用问题当场教。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红线对应平台安全能力:凭据网关 / RBAC 权限 / 验收门禁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6455664"/>
            <a:ext cx="92080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30968" y="6455664"/>
            <a:ext cx="1335024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4" name="Text 22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6" name="Text 24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28" name="Text 26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30384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80676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1" name="Text 29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支持渠道与试点邀请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不会有「没人管」的时刻 —— 四个入口,总有一个在你身边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389888"/>
          </a:xfrm>
          <a:prstGeom prst="roundRect">
            <a:avLst>
              <a:gd name="adj" fmla="val 460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258568"/>
            <a:ext cx="128016" cy="128016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1316736" y="21305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开账号 · 装环境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214884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找平台管理员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16736" y="2551176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账号开通、daemon 与宿主 Agent 安装,一条龙协助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120640" cy="1389888"/>
          </a:xfrm>
          <a:prstGeom prst="roundRect">
            <a:avLst>
              <a:gd name="adj" fmla="val 460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01384" y="2258568"/>
            <a:ext cx="128016" cy="128016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3" name="Text 11"/>
          <p:cNvSpPr/>
          <p:nvPr/>
        </p:nvSpPr>
        <p:spPr>
          <a:xfrm>
            <a:off x="6739128" y="21305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使用答疑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34272" y="214884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支持群随问随答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9128" y="2551176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操作卡住、结果不对,截图发群即有人响应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538728"/>
            <a:ext cx="5120640" cy="1389888"/>
          </a:xfrm>
          <a:prstGeom prst="roundRect">
            <a:avLst>
              <a:gd name="adj" fmla="val 460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8992" y="3831336"/>
            <a:ext cx="128016" cy="128016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8" name="Text 16"/>
          <p:cNvSpPr/>
          <p:nvPr/>
        </p:nvSpPr>
        <p:spPr>
          <a:xfrm>
            <a:off x="1316736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3721608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《上手手册》+ FAQ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16736" y="4123944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三步上手的图文版与常见问题,群文件自取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3538728"/>
            <a:ext cx="5120640" cy="1389888"/>
          </a:xfrm>
          <a:prstGeom prst="roundRect">
            <a:avLst>
              <a:gd name="adj" fmla="val 460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01384" y="3831336"/>
            <a:ext cx="128016" cy="128016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3" name="Text 21"/>
          <p:cNvSpPr/>
          <p:nvPr/>
        </p:nvSpPr>
        <p:spPr>
          <a:xfrm>
            <a:off x="6739128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34272" y="3721608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 30 分钟实操专场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39128" y="4123944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带着电脑来,散会时你的第一个会话已经跑通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349240"/>
            <a:ext cx="10543032" cy="566928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7" name="Text 25"/>
          <p:cNvSpPr/>
          <p:nvPr/>
        </p:nvSpPr>
        <p:spPr>
          <a:xfrm>
            <a:off x="1097280" y="53492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试点邀请: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每个小组先 1-2 人深度试用两周 —— 你的反馈直接决定下个版本做什么,现在提最有效。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管理员名单与群号见会后通知;培训时间群内接龙确定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6455664"/>
            <a:ext cx="92080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30968" y="6455664"/>
            <a:ext cx="1335024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2" name="Text 30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4" name="Text 32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6" name="Text 34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30384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80676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9" name="Text 37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 / 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1078992" y="50292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接下来会更好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从你们的真实使用出发 —— 这些都在计划里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08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947672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更顺手的会话体验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60520" y="1947672"/>
            <a:ext cx="7178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分身工作可视化面板:多个 Agent 同时干活时,一眼看清谁在干什么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169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169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843784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移动端查看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160520" y="2843784"/>
            <a:ext cx="7178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手机看进度、看日志、批操作 —— 不在电脑前也能掌控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721608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130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739896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场景模板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160520" y="3739896"/>
            <a:ext cx="7178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常见任务一键发起:修 bug / 写周报 / 代码评审,预置好提示词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7091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09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463600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持续培训与共创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160520" y="4636008"/>
            <a:ext cx="7178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每月一场实操专场;用得好的用法,沉淀成团队模板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577840"/>
            <a:ext cx="10543032" cy="457200"/>
          </a:xfrm>
          <a:prstGeom prst="rect">
            <a:avLst/>
          </a:prstGeom>
          <a:solidFill>
            <a:srgbClr val="1B2C47"/>
          </a:solidFill>
        </p:spPr>
      </p:sp>
      <p:sp>
        <p:nvSpPr>
          <p:cNvPr id="26" name="Text 24"/>
          <p:cNvSpPr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优先级由你们决定</a:t>
            </a: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 用得最多的、喊得最响的,先做。反馈渠道见上一页。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依据平台路线图(分身面板/移动端等已在规划)· 结合推广诉求整理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6455664"/>
            <a:ext cx="92080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30968" y="6455664"/>
            <a:ext cx="1335024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98548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1" name="Text 29"/>
          <p:cNvSpPr/>
          <p:nvPr/>
        </p:nvSpPr>
        <p:spPr>
          <a:xfrm>
            <a:off x="1179576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41164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3" name="Text 31"/>
          <p:cNvSpPr/>
          <p:nvPr/>
        </p:nvSpPr>
        <p:spPr>
          <a:xfrm>
            <a:off x="3822192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5492" y="6414516"/>
            <a:ext cx="82296" cy="82296"/>
          </a:xfrm>
          <a:prstGeom prst="ellipse">
            <a:avLst/>
          </a:prstGeom>
          <a:solidFill>
            <a:srgbClr val="155E75"/>
          </a:solidFill>
        </p:spPr>
      </p:sp>
      <p:sp>
        <p:nvSpPr>
          <p:cNvPr id="35" name="Text 33"/>
          <p:cNvSpPr/>
          <p:nvPr/>
        </p:nvSpPr>
        <p:spPr>
          <a:xfrm>
            <a:off x="6446520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30384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80676" y="6405372"/>
            <a:ext cx="100584" cy="100584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8" name="Text 36"/>
          <p:cNvSpPr/>
          <p:nvPr/>
        </p:nvSpPr>
        <p:spPr>
          <a:xfrm>
            <a:off x="9070848" y="656539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5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 / 26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852160" cy="5852160"/>
          </a:xfrm>
          <a:prstGeom prst="ellipse">
            <a:avLst/>
          </a:prstGeom>
          <a:solidFill>
            <a:srgbClr val="155E75">
              <a:alpha val="9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509760" y="3840480"/>
            <a:ext cx="4023360" cy="4023360"/>
          </a:xfrm>
          <a:prstGeom prst="ellipse">
            <a:avLst/>
          </a:prstGeom>
          <a:solidFill>
            <a:srgbClr val="8B5CF6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737360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SILLYHUB × SILLYSPEC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工艺已就绪,车间已上线。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今天散会,就能开始用 —— 三件事,现在就能做: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36576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65760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开账号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会后找管理员,2 分钟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36576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21A2F"/>
          </a:solidFill>
          <a:ln w="15875">
            <a:solidFill>
              <a:srgbClr val="2A3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65760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跑通第一个会话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按三步上手页操作,10 分钟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36576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21A2F"/>
          </a:solidFill>
          <a:ln w="15875">
            <a:solidFill>
              <a:srgbClr val="2A38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365760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提一条反馈
</a:t>
            </a:r>
            <a:r>
              <a:rPr lang="en-US" sz="11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本周五前,群里等你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65992" y="5029200"/>
            <a:ext cx="38404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84832" y="4974336"/>
            <a:ext cx="109728" cy="109728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16" name="Text 14"/>
          <p:cNvSpPr/>
          <p:nvPr/>
        </p:nvSpPr>
        <p:spPr>
          <a:xfrm>
            <a:off x="1179576" y="52120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认识工艺与车间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4974336"/>
            <a:ext cx="109728" cy="109728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18" name="Text 16"/>
          <p:cNvSpPr/>
          <p:nvPr/>
        </p:nvSpPr>
        <p:spPr>
          <a:xfrm>
            <a:off x="3822192" y="52120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三步上手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51776" y="4974336"/>
            <a:ext cx="109728" cy="109728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20" name="Text 18"/>
          <p:cNvSpPr/>
          <p:nvPr/>
        </p:nvSpPr>
        <p:spPr>
          <a:xfrm>
            <a:off x="6446520" y="52120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常见场景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76104" y="4974336"/>
            <a:ext cx="109728" cy="109728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22" name="Text 20"/>
          <p:cNvSpPr/>
          <p:nvPr/>
        </p:nvSpPr>
        <p:spPr>
          <a:xfrm>
            <a:off x="9070848" y="52120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规范·支持·未来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52120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10543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 · Q&amp;A —— 欢迎现在就举手问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A1 · 平台实拍</a:t>
            </a:r>
            <a:endParaRPr lang="en-US" sz="1300" dirty="0"/>
          </a:p>
        </p:txBody>
      </p:sp>
      <p:sp>
        <p:nvSpPr>
          <p:cNvPr id="3" name="Text 1">
            <a:hlinkClick r:id="rId1" action="ppaction://hlinksldjump"/>
          </p:cNvPr>
          <p:cNvSpPr/>
          <p:nvPr/>
        </p:nvSpPr>
        <p:spPr>
          <a:xfrm>
            <a:off x="9262872" y="502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◀ 返回 P5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工作区首页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50060" y="1444752"/>
            <a:ext cx="8688832" cy="4919472"/>
          </a:xfrm>
          <a:prstGeom prst="rect">
            <a:avLst/>
          </a:prstGeom>
          <a:solidFill>
            <a:srgbClr val="0A0F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86636" y="6419088"/>
            <a:ext cx="8615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工作区首页 · 平台实拍</a:t>
            </a:r>
            <a:endParaRPr lang="en-US" sz="105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60" y="1445895"/>
            <a:ext cx="8688070" cy="4908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A2 · 平台实拍</a:t>
            </a:r>
            <a:endParaRPr lang="en-US" sz="1300" dirty="0"/>
          </a:p>
        </p:txBody>
      </p:sp>
      <p:sp>
        <p:nvSpPr>
          <p:cNvPr id="3" name="Text 1">
            <a:hlinkClick r:id="rId1" action="ppaction://hlinksldjump"/>
          </p:cNvPr>
          <p:cNvSpPr/>
          <p:nvPr/>
        </p:nvSpPr>
        <p:spPr>
          <a:xfrm>
            <a:off x="9262872" y="502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◀ 返回 P12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守护进程运行时 · 复制命令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50060" y="1444752"/>
            <a:ext cx="8688832" cy="4919472"/>
          </a:xfrm>
          <a:prstGeom prst="rect">
            <a:avLst/>
          </a:prstGeom>
          <a:solidFill>
            <a:srgbClr val="0A0F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86636" y="6419088"/>
            <a:ext cx="8615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守护进程运行时 · 复制命令 · 平台实拍</a:t>
            </a:r>
            <a:endParaRPr lang="en-US" sz="105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95" y="1468120"/>
            <a:ext cx="8651240" cy="4895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A3 · 平台实拍</a:t>
            </a:r>
            <a:endParaRPr lang="en-US" sz="1300" dirty="0"/>
          </a:p>
        </p:txBody>
      </p:sp>
      <p:sp>
        <p:nvSpPr>
          <p:cNvPr id="3" name="Text 1">
            <a:hlinkClick r:id="rId1" action="ppaction://hlinksldjump"/>
          </p:cNvPr>
          <p:cNvSpPr/>
          <p:nvPr/>
        </p:nvSpPr>
        <p:spPr>
          <a:xfrm>
            <a:off x="9262872" y="502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◀ 返回 P14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智能体会话 · 真实修复对话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50060" y="1444752"/>
            <a:ext cx="8688832" cy="4919472"/>
          </a:xfrm>
          <a:prstGeom prst="rect">
            <a:avLst/>
          </a:prstGeom>
          <a:solidFill>
            <a:srgbClr val="0A0F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86636" y="6419088"/>
            <a:ext cx="8615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智能体会话 · 真实修复对话 · 平台实拍</a:t>
            </a:r>
            <a:endParaRPr lang="en-US" sz="105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80" y="1456055"/>
            <a:ext cx="8651875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A4 · 平台实拍</a:t>
            </a:r>
            <a:endParaRPr lang="en-US" sz="1300" dirty="0"/>
          </a:p>
        </p:txBody>
      </p:sp>
      <p:sp>
        <p:nvSpPr>
          <p:cNvPr id="3" name="Text 1">
            <a:hlinkClick r:id="rId1" action="ppaction://hlinksldjump"/>
          </p:cNvPr>
          <p:cNvSpPr/>
          <p:nvPr/>
        </p:nvSpPr>
        <p:spPr>
          <a:xfrm>
            <a:off x="9262872" y="502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◀ 返回 P15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变更中心 · 阶段与进度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50060" y="1444752"/>
            <a:ext cx="8688832" cy="4919472"/>
          </a:xfrm>
          <a:prstGeom prst="rect">
            <a:avLst/>
          </a:prstGeom>
          <a:solidFill>
            <a:srgbClr val="0A0F1E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6" name="Image 0" descr="C:/Users/qinyi/IdeaProjects/multi-agent-platform/docs/ppt-screenshots/03-变更中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36" y="1481328"/>
            <a:ext cx="861568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6636" y="6419088"/>
            <a:ext cx="8615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变更中心 · 阶段与进度 · 平台实拍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A5 · 平台实拍</a:t>
            </a:r>
            <a:endParaRPr lang="en-US" sz="1300" dirty="0"/>
          </a:p>
        </p:txBody>
      </p:sp>
      <p:sp>
        <p:nvSpPr>
          <p:cNvPr id="3" name="Text 1">
            <a:hlinkClick r:id="rId1" action="ppaction://hlinksldjump"/>
          </p:cNvPr>
          <p:cNvSpPr/>
          <p:nvPr/>
        </p:nvSpPr>
        <p:spPr>
          <a:xfrm>
            <a:off x="9262872" y="502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◀ 返回 P16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项目计划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50060" y="1444752"/>
            <a:ext cx="8688832" cy="4919472"/>
          </a:xfrm>
          <a:prstGeom prst="rect">
            <a:avLst/>
          </a:prstGeom>
          <a:solidFill>
            <a:srgbClr val="0A0F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86636" y="6419088"/>
            <a:ext cx="8615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PPM 项目计划 · 平台实拍</a:t>
            </a:r>
            <a:endParaRPr lang="en-US" sz="105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456055"/>
            <a:ext cx="8670925" cy="49002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 A6 · 平台实拍</a:t>
            </a:r>
            <a:endParaRPr lang="en-US" sz="1300" dirty="0"/>
          </a:p>
        </p:txBody>
      </p:sp>
      <p:sp>
        <p:nvSpPr>
          <p:cNvPr id="3" name="Text 1">
            <a:hlinkClick r:id="rId1" action="ppaction://hlinksldjump"/>
          </p:cNvPr>
          <p:cNvSpPr/>
          <p:nvPr/>
        </p:nvSpPr>
        <p:spPr>
          <a:xfrm>
            <a:off x="9262872" y="5029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u="sng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hlinkClick r:id="rId1" action="ppaction://hlinksldjump"/>
              </a:rPr>
              <a:t>◀ 返回 P8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F2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Multica 官方平台示例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94460" y="1632375"/>
            <a:ext cx="9400032" cy="4544225"/>
          </a:xfrm>
          <a:prstGeom prst="rect">
            <a:avLst/>
          </a:prstGeom>
          <a:solidFill>
            <a:srgbClr val="0A0F1E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6" name="Image 0" descr="C:/Users/qinyi/IdeaProjects/multi-agent-platform/docs/ppt-screenshots/08-Multica平台实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1668951"/>
            <a:ext cx="9326880" cy="44710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036" y="6231465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3A5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Multica 官方平台示例 · 平台实拍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7925</Words>
  <Application>WPS 演示</Application>
  <PresentationFormat>On-screen Show (16:9)</PresentationFormat>
  <Paragraphs>1018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SillyHub × SillySpec — 团队介绍与上手</dc:title>
  <dc:creator>SillyHub</dc:creator>
  <dc:subject>PptxGenJS Presentation</dc:subject>
  <cp:lastModifiedBy>对，我是奇迹。</cp:lastModifiedBy>
  <cp:revision>4</cp:revision>
  <dcterms:created xsi:type="dcterms:W3CDTF">2026-08-28T07:25:00Z</dcterms:created>
  <dcterms:modified xsi:type="dcterms:W3CDTF">2026-08-28T07:34:28Z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1E453645D22645AA8E255D9DD3B3156F_12</vt:lpwstr>
  </property>
  <property fmtid="{D5CDD505-2E9C-101B-9397-08002B2CF9AE}" pid="3" name="KSOProductBuildVer">
    <vt:lpwstr>2052-12.1.0.28043</vt:lpwstr>
  </property>
</Properties>
</file>