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155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DF2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5E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2026-05</c:v>
                  </c:pt>
                  <c:pt idx="1">
                    <c:v>2026-06</c:v>
                  </c:pt>
                  <c:pt idx="2">
                    <c:v>2026-07</c:v>
                  </c:pt>
                  <c:pt idx="3">
                    <c:v>2026-08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544</c:v>
                </c:pt>
                <c:pt idx="2">
                  <c:v>682</c:v>
                </c:pt>
                <c:pt idx="3">
                  <c:v>889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EDF2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04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3A5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526"/>
        </a:solidFill>
        <a:ln>
          <a:noFill/>
        </a:ln>
        <a:effectLst/>
      </c:spPr>
    </c:plotArea>
    <c:plotVisOnly val="1"/>
    <c:dispBlanksAs val="span"/>
  </c:chart>
  <c:spPr>
    <a:solidFill>
      <a:srgbClr val="0E15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开场:按五章走 —— 是什么、为什么、功能与亮点、不足与教训、未来。三个承诺:数字可溯源、不足照实说、一条线讲完。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先给听众地图:七个环节对应五章。特别预告第 25-26 页会主动讲不足 —— 建立可信度。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用排除法建立准确预期:它管的是工程协作,不是对话体验;执行在本机,不上云。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三种角色 = 三类真实用户。开发者用得最深,管理员守边界,项目经理看交付 —— PPM 已率先投产。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概念地基:工作空间是容器,daemon 是手脚,变更是档案,会话是过程,档案是预置策略。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关键点:控制面与执行面分离。Agent 在本机跑,平台经 WebSocket 调度,代码不离开开发者的电脑。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动机页:先讲行业背景再讲自身痛点。核心判断 —— 单人效率工具已够多,缺的是团队治理层。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左痛右答逐行对应。核心叙事:团队用 Agent 的障碍不是模型能力,而是缺工程保障与协作治理。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决策页是逻辑骨架:五次「为什么这样设计」。每行都有真实的历史权衡,不是事后合理化。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五段流程是平台的灵魂。强调自举:平台用什么方法管理 Agent,就用什么方法构建自己。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SillySpec 是开源 CLI,先于平台存在。目录树就是全部过程资产:219 归档 + 46 活跃变更、704 条快速修复日志均为实测。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命令族即操作面:五命令主轨 + quick 支轨 + 六个辅助命令。双轨制让流程既严格又不官僚。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四件套让每个变更成为可审计单元:为什么改/怎么改/怎么拆/做什么。归档时自动回写三处,知识不散落。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沉淀体系四件:决策账本、扫描文档、工具缺陷账本、gotchas。111 份闭环记录是「用流程管工具本身」的证据。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三形态演进:CLI(单人)→ daemon 桥接(自动同步)→ 平台(团队)。共用目录契约,方法论与产品不会两张皮。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功能章的阅读地图:按交付旅程重组八个能力域,避免流水账。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旅程第一站:接入。五步后,仓库变成有拓扑、有角色、有权限锚点、有 Agent 指令的可治理空间。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变更中心是平台心脏:五段状态机 + 门禁保证质量;快速修复与增量同步保证 CLI 与平台两条路都通。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执行站是用户体感最强的一站。四个象限:开会话、看过程、不断线、人把关 —— 每个都有归档变更背书。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编排域三层价值:Provider 广度(12 种)、团队协作(mission 派发/收敛)、深度自治(3 层递归+预算硬收)。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安全是共享的前提:四层纵深 + 一次专项审查的量化战报。daemon-agent-share 是本周刚收口的能力。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交付站收尾旅程:PPM 是唯一投产模块(可信度锚点);文件与知识让交付形成闭环飞轮。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亮点页回答「凭什么说做得好」。前三条紫色是差异化最强的;每条都能展开讲一个踩坑故事。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成效页:左四数字右趋势图。8 月 889 次提交是起步月的 14.6 倍 —— 加速度本身就是平台价值的证明。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主动亮债:两个 P0 都与文档/进度跟踪相关,不影响运行功能;治理方式和代码一样走变更流程。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教训页最能建立信任:承认返工,但每次返工都变成了流程规则 —— 这正是规范驱动开发的价值。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未来分三档:进行中、P3 体验、更远。第一优先是部署上线 —— 与第 25 页的 P2 债务呼应,叙事闭环。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收尾回到愿景。五章节点全亮、虚线指向未来,与封面呼应;最后强调可溯源,承接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669280" cy="5669280"/>
          </a:xfrm>
          <a:prstGeom prst="ellipse">
            <a:avLst/>
          </a:prstGeom>
          <a:solidFill>
            <a:srgbClr val="155E7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2926080" cy="292608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55E75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SILLYHUB · MULTI-AGENT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多智能体协作管理平台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68680" y="263347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Agent 真正落地写代码</a:t>
            </a:r>
            <a:pPr indent="0" marL="0">
              <a:buNone/>
            </a:pPr>
            <a:r>
              <a:rPr lang="en-US" sz="16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—— 从单人命令行工具,升级为团队级协作平台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3467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个月迭代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54680" y="3410712"/>
            <a:ext cx="0" cy="713232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33467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2,176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64408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次提交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550408" y="3410712"/>
            <a:ext cx="0" cy="713232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0136" y="33467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660136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种宿主 Agent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46136" y="3410712"/>
            <a:ext cx="0" cy="713232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55864" y="33467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055864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个归档变更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590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汇报路线 · 一条时间线贯穿五章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303520"/>
            <a:ext cx="10543032" cy="0"/>
          </a:xfrm>
          <a:prstGeom prst="line">
            <a:avLst/>
          </a:prstGeom>
          <a:noFill/>
          <a:ln w="19050">
            <a:solidFill>
              <a:srgbClr val="155E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03527" y="51297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21A2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03527" y="5129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2863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平台是什么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812134" y="51297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21A2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12134" y="5129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71470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为什么要搭建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20740" y="51297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21A2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20740" y="5129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功能与亮点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29346" y="51297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21A2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29346" y="5129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88682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不足与教训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0137953" y="51297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21A2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37953" y="5129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397289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未来发展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138160" y="548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2026-08-28 · 28 页 · 数据全部可溯源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AGENDA · 汇报主线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这份汇报怎么讲:七个环节,一条主线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不念功能清单 —— 按「定义 → 动机 → 方法 → 功能 → 亮点 → 不足 → 未来」的故事线走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543032" cy="0"/>
          </a:xfrm>
          <a:prstGeom prst="line">
            <a:avLst/>
          </a:prstGeom>
          <a:noFill/>
          <a:ln w="19050">
            <a:solidFill>
              <a:srgbClr val="155E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8176" y="3145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2D3EE"/>
          </a:solidFill>
          <a:ln w="19050">
            <a:solidFill>
              <a:srgbClr val="0A0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8176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249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定义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356616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平台是什么、给谁用、不是什么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3145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2D3EE"/>
          </a:solidFill>
          <a:ln w="19050">
            <a:solidFill>
              <a:srgbClr val="0A0F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40864" y="27249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动机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59152" y="356616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团队用 Agent 的四堵墙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43984" y="3145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2D3EE"/>
          </a:solidFill>
          <a:ln w="19050">
            <a:solidFill>
              <a:srgbClr val="0A0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3984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58768" y="27249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方法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77056" y="356616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SillySpec 规范驱动五段流程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61888" y="3145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2D3EE"/>
          </a:solidFill>
          <a:ln w="19050">
            <a:solidFill>
              <a:srgbClr val="0A0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1888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76672" y="27249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功能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356616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按一次真实交付走六站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79792" y="3145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2D3EE"/>
          </a:solidFill>
          <a:ln w="19050">
            <a:solidFill>
              <a:srgbClr val="0A0F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79792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94576" y="27249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亮点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12864" y="356616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技术亮点 + 工程成效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97696" y="3145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8B5CF6"/>
          </a:solidFill>
          <a:ln w="19050">
            <a:solidFill>
              <a:srgbClr val="0A0F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97696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12480" y="27249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不足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30768" y="356616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技术债与踩坑教训,照实说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515600" y="3145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8B5CF6"/>
          </a:solidFill>
          <a:ln w="19050">
            <a:solidFill>
              <a:srgbClr val="0A0F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30384" y="27249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未来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948672" y="356616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三档路线图与下一站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2960" y="4709160"/>
            <a:ext cx="10543032" cy="1005840"/>
          </a:xfrm>
          <a:prstGeom prst="rect">
            <a:avLst/>
          </a:prstGeom>
          <a:solidFill>
            <a:srgbClr val="1B2C47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" y="4709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三条汇报原则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—— 每个关键数字标来源,git/ROADMAP 可查 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坦诚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—— 技术债、返工与教训单独成章 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连贯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—— 从动机到未来,一条时间线讲完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全篇数据来源:git log · .sillyspec/ROADMAP.md · 归档变更目录(截至 2026-08-28)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" y="6455664"/>
            <a:ext cx="10543032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0" name="Text 38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2" name="Text 40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4" name="Text 42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6" name="Text 44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8" name="Text 46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这个平台是什么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先说清楚:SillyHub 是什么,不是什么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10512"/>
            <a:ext cx="5120640" cy="3346704"/>
          </a:xfrm>
          <a:prstGeom prst="roundRect">
            <a:avLst>
              <a:gd name="adj" fmla="val 1913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1214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335024" y="19933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15568" y="24871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团队级 AI 编程协作平台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管理工作空间、编排 Agent、跟踪变更、把关协作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15568" y="314553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 控制台 + 本机 daemon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平台集中调度,执行发生在每个成员自己的电脑上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5568" y="38039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 3-30 人研发团队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人人可带自己的 Agent,共享服务器也安全隔离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15568" y="44622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规范驱动开发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每个改动先有规格、后有代码,验收通过才归档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45352" y="1810512"/>
            <a:ext cx="5120640" cy="3346704"/>
          </a:xfrm>
          <a:prstGeom prst="roundRect">
            <a:avLst>
              <a:gd name="adj" fmla="val 1913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9672" y="2121408"/>
            <a:ext cx="128016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757416" y="19933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它不是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24871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不是聊天机器人套壳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中心是变更规格与审批,不是一段段对话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37960" y="314553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不是云端代码执行平台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代码永远在本机 worktree 里跑,不出网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37960" y="38039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不绑定任何一家模型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种宿主 Agent、6 种协议,可插拔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37960" y="44622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不替代人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门禁、审批、归档,最终由人把关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394960"/>
            <a:ext cx="10543032" cy="566928"/>
          </a:xfrm>
          <a:prstGeom prst="rect">
            <a:avLst/>
          </a:prstGeom>
          <a:solidFill>
            <a:srgbClr val="1B2C47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3949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一句话:让 Agent 干的活,像人干的一样 ——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可管理、可审计、可协作</a:t>
            </a:r>
            <a:pPr indent="0" marL="0">
              <a:buNone/>
            </a:pPr>
            <a:r>
              <a:rPr lang="en-US" sz="15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来源:README.md · .sillyspec/docs/SillyHub/scan/ARCHITECTURE.md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6455664"/>
            <a:ext cx="1054303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7263" y="6455664"/>
            <a:ext cx="9488729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76679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6971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28" name="Text 26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0" name="Text 28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2" name="Text 30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4" name="Text 32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这个平台是什么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平台全貌:三种角色,各自的工作台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同一份数据、同一套权限 —— 不同角色看到不同的面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38528"/>
            <a:ext cx="3392424" cy="3749040"/>
          </a:xfrm>
          <a:prstGeom prst="roundRect">
            <a:avLst>
              <a:gd name="adj" fmla="val 1887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78992" y="21396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开发者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8992" y="25054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日常干活的主体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78992" y="2990088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9077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智能体会话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流式输出、追问、恢复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78992" y="3666744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5844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变更中心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五段流程,每步有门禁有档案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78992" y="434340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2611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本机守护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daemon 绑定、在线状态、运行时直读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78992" y="5020056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运行日志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工具级筛选,子代理嵌套时间线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34840" y="1938528"/>
            <a:ext cx="3392424" cy="3749040"/>
          </a:xfrm>
          <a:prstGeom prst="roundRect">
            <a:avLst>
              <a:gd name="adj" fmla="val 1887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90872" y="21396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管理员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90872" y="25054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平台治理者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90872" y="2990088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9077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用户与组织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多用户、组织树、菜单级 RBAC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90872" y="3666744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5844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守护进程管理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全局机器列表、版本与远程升级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90872" y="434340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42611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共享与授权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守护共享、平台共享智能体配置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90872" y="5020056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提供商管理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提供商启停、默认切换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46720" y="1938528"/>
            <a:ext cx="3392424" cy="3749040"/>
          </a:xfrm>
          <a:prstGeom prst="roundRect">
            <a:avLst>
              <a:gd name="adj" fmla="val 1887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02752" y="21396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项目经理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302752" y="25054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交付视角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02752" y="2990088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29077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PPM 项目管理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项目、计划节点、任务、问题清单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302752" y="3666744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35844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看板与甘特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进度可视化,资源表列宽可拖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302752" y="434340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2611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发布审批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发布工作流,发布前有人签字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302752" y="5020056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事件复盘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线上事件记录,沉淀进知识库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来源:README.md 核心能力 · 前端路由结构(/sessions /changes /admin /projects)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" y="6455664"/>
            <a:ext cx="1054303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77263" y="6455664"/>
            <a:ext cx="9488729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76679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6971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4" name="Text 42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6" name="Text 44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8" name="Text 46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0" name="Text 48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2" name="Text 50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这个平台是什么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五个核心概念,撑起整个平台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记住这张对象关系图,后面每个功能页都能对上号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05840" y="1810512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70432" y="1810512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
</a:t>
            </a:r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守护进程  </a:t>
            </a:r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成员本机执行器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810512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121A2F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9472" y="1810512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
</a:t>
            </a:r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工作空间  </a:t>
            </a:r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 仓库+规范目录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0" y="1810512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51392" y="1810512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AgentProfile
</a:t>
            </a:r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智能体档案  </a:t>
            </a:r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provider·提示词·工具策略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3218688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19472" y="3218688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
</a:t>
            </a:r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变更  </a:t>
            </a:r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五段流程档案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4626864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9472" y="4626864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/ Run
</a:t>
            </a:r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会话与执行  </a:t>
            </a:r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干活的记录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03320" y="2286000"/>
            <a:ext cx="10058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657600" y="20116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成员绑定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2770632"/>
            <a:ext cx="0" cy="402336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217920" y="28346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包含变更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4178808"/>
            <a:ext cx="0" cy="402336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217920" y="42428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阶段执行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331720" y="2770632"/>
            <a:ext cx="0" cy="2331720"/>
          </a:xfrm>
          <a:prstGeom prst="line">
            <a:avLst/>
          </a:prstGeom>
          <a:noFill/>
          <a:ln w="15875">
            <a:solidFill>
              <a:srgbClr val="155E7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331720" y="5102352"/>
            <a:ext cx="23774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468880" y="48097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本机执行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012680" y="2770632"/>
            <a:ext cx="0" cy="2331720"/>
          </a:xfrm>
          <a:prstGeom prst="line">
            <a:avLst/>
          </a:prstGeom>
          <a:noFill/>
          <a:ln w="15875">
            <a:solidFill>
              <a:srgbClr val="155E75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452360" y="5102352"/>
            <a:ext cx="25603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headEnd type="triangle"/>
          </a:ln>
        </p:spPr>
      </p:sp>
      <p:sp>
        <p:nvSpPr>
          <p:cNvPr id="27" name="Text 25"/>
          <p:cNvSpPr/>
          <p:nvPr/>
        </p:nvSpPr>
        <p:spPr>
          <a:xfrm>
            <a:off x="8503920" y="48097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档案注入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" y="5760720"/>
            <a:ext cx="10543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所有功能页都是这五个对象的投影</a:t>
            </a:r>
            <a:pPr algn="ctr" indent="0" marL="0">
              <a:buNone/>
            </a:pPr>
            <a:r>
              <a:rPr lang="en-US" sz="13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—— 权限沿着「成员→绑定→工作区→变更」传导,安全边界由此而来。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来源:ARCHITECTURE.md · 五对象数据模型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6455664"/>
            <a:ext cx="1054303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77263" y="6455664"/>
            <a:ext cx="9488729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76679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6971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6" name="Text 34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8" name="Text 36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0" name="Text 38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2" name="Text 40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这个平台是什么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三服务架构:控制面与执行面分离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FastAPI · Next.js · Node daemon · PostgreSQL · Redis · MinIO · Docker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938528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93852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浏览器 · 前端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Next.js 14 · antd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2395728"/>
            <a:ext cx="1234440" cy="0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962656" y="2103120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+ SSE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938528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93852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backend 控制面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FastAPI · 鉴权/调度/规格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0" y="2743200"/>
            <a:ext cx="1097280" cy="0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803136" y="245059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· 缓存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82712" y="1572768"/>
            <a:ext cx="3291840" cy="713232"/>
          </a:xfrm>
          <a:prstGeom prst="roundRect">
            <a:avLst>
              <a:gd name="adj" fmla="val 8974"/>
            </a:avLst>
          </a:prstGeom>
          <a:solidFill>
            <a:srgbClr val="0E1526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19872" y="157276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PostgreSQL 16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持久化 · 变更/会话/权限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82712" y="2395728"/>
            <a:ext cx="3291840" cy="713232"/>
          </a:xfrm>
          <a:prstGeom prst="roundRect">
            <a:avLst>
              <a:gd name="adj" fmla="val 8974"/>
            </a:avLst>
          </a:prstGeom>
          <a:solidFill>
            <a:srgbClr val="0E1526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19872" y="239572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Redis 7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缓存 + Pub/Sub 实时信号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82712" y="3218688"/>
            <a:ext cx="3291840" cy="713232"/>
          </a:xfrm>
          <a:prstGeom prst="roundRect">
            <a:avLst>
              <a:gd name="adj" fmla="val 8974"/>
            </a:avLst>
          </a:prstGeom>
          <a:solidFill>
            <a:srgbClr val="0E1526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19872" y="321868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MinIO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S3 兼容文件中心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577840" y="2852928"/>
            <a:ext cx="0" cy="1124712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760720" y="32735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WebSocket · 双向 RPC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3977640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8056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daemon 执行面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Node.js · 开发者本机常驻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0" y="4434840"/>
            <a:ext cx="1097280" cy="0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803136" y="414223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+ MCP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82712" y="3977640"/>
            <a:ext cx="3291840" cy="914400"/>
          </a:xfrm>
          <a:prstGeom prst="roundRect">
            <a:avLst>
              <a:gd name="adj" fmla="val 7000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19872" y="3977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宿主 Agent × 12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 · Codex · Copilot …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2960" y="397764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0E1526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0120" y="39776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本地执行 · 安全可控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策略引擎 · worktree 隔离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" y="5312664"/>
            <a:ext cx="118872" cy="1188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1078992" y="523036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单一 API 真相  </a:t>
            </a:r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前后端与 daemon 共享 backend OpenAPI,前端类型自动生成,CI 卡漂移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" y="5715000"/>
            <a:ext cx="118872" cy="1188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1078992" y="563270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平台不碰代码执行  </a:t>
            </a:r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backend 只做持久化与调度;文件读写全部发生在开发者本机 daemon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来源:README.md 架构概览 · ARCHITECTURE.md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" y="6455664"/>
            <a:ext cx="1054303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77263" y="6455664"/>
            <a:ext cx="9488729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76679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6971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1" name="Text 39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3" name="Text 41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5" name="Text 43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7" name="Text 45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背景:Agent 编程工具越强,团队越不敢用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年,单人用 Agent 写代码已是常态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—— claude code、codex、cursor…模型能力以月为单位进化。但把 Agent 引进团队工程,立刻撞上四堵墙: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274320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黑箱墙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过程不可见:Agent 改了什么、为什么改,出问题无法复盘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5387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53312" y="3493008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协作墙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多人共用环境:谁改的、谁批的、会不会互相踩,说不清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2885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53312" y="4242816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质量墙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没有门禁:Agent 生成的代码,review 跟不上生成速度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503834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038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53312" y="4992624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碎片墙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工具各开各的:12 种 Agent 各自为战,经验无法沉淀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98080" y="1783080"/>
            <a:ext cx="3867912" cy="3977640"/>
          </a:xfrm>
          <a:prstGeom prst="roundRect">
            <a:avLst>
              <a:gd name="adj" fmla="val 1655"/>
            </a:avLst>
          </a:prstGeom>
          <a:solidFill>
            <a:srgbClr val="0E152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54112" y="20116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立项判断 · 2026-05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54112" y="2432304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工具解决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「能不能写」;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平台解决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「敢不敢用」。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754112" y="44348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瓶颈不在模型,在工程治理 —— 与其等工具厂商补齐,不如把团队的规矩自己立起来。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来源:README.md「为什么用 SillyHub」· 立项背景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6455664"/>
            <a:ext cx="316291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85870" y="6455664"/>
            <a:ext cx="7380122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26" name="Text 24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85286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5578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1" name="Text 29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3" name="Text 31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5" name="Text 33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四个真实痛点,四个平台回答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没有平台 · 单兵作战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0" y="1810512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有了 SillyHub · 团队协作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18872" cy="118872"/>
          </a:xfrm>
          <a:prstGeom prst="rect">
            <a:avLst/>
          </a:prstGeom>
          <a:solidFill>
            <a:srgbClr val="93A5C4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219456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写代码像黑箱,过程不可追溯、结果难复盘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6440" y="2514600"/>
            <a:ext cx="777240" cy="0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040880" y="2395728"/>
            <a:ext cx="118872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7296912" y="219456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规范驱动 5 段流程,每步结构化文档 + 评审门禁,全程留档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017520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255264"/>
            <a:ext cx="118872" cy="118872"/>
          </a:xfrm>
          <a:prstGeom prst="rect">
            <a:avLst/>
          </a:prstGeom>
          <a:solidFill>
            <a:srgbClr val="93A5C4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3054096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Agent、多工具各自为战,无法统一调度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06440" y="3374136"/>
            <a:ext cx="777240" cy="0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40880" y="3255264"/>
            <a:ext cx="118872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7296912" y="305409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一套平台编排 12 种宿主 Agent、6 种协议,新增只加驱动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877056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114800"/>
            <a:ext cx="118872" cy="118872"/>
          </a:xfrm>
          <a:prstGeom prst="rect">
            <a:avLst/>
          </a:prstGeom>
          <a:solidFill>
            <a:srgbClr val="93A5C4"/>
          </a:solidFill>
          <a:ln/>
        </p:spPr>
      </p:sp>
      <p:sp>
        <p:nvSpPr>
          <p:cNvPr id="20" name="Text 18"/>
          <p:cNvSpPr/>
          <p:nvPr/>
        </p:nvSpPr>
        <p:spPr>
          <a:xfrm>
            <a:off x="1078992" y="3913632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共享服务器多人协作,无隔离、无权限边界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806440" y="4233672"/>
            <a:ext cx="777240" cy="0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40880" y="4114800"/>
            <a:ext cx="118872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7296912" y="3913632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多用户 RBAC + Git 凭据网关 + worktree 隔离,互不越界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4736592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974336"/>
            <a:ext cx="118872" cy="118872"/>
          </a:xfrm>
          <a:prstGeom prst="rect">
            <a:avLst/>
          </a:prstGeom>
          <a:solidFill>
            <a:srgbClr val="93A5C4"/>
          </a:solidFill>
          <a:ln/>
        </p:spPr>
      </p:sp>
      <p:sp>
        <p:nvSpPr>
          <p:cNvPr id="26" name="Text 24"/>
          <p:cNvSpPr/>
          <p:nvPr/>
        </p:nvSpPr>
        <p:spPr>
          <a:xfrm>
            <a:off x="1078992" y="4773168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审查靠人肉翻日志,质量门禁形同虚设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806440" y="5093208"/>
            <a:ext cx="777240" cy="0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40880" y="4974336"/>
            <a:ext cx="118872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7296912" y="4773168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双层审批(工具级 + 阶段级)+ 流式日志,Agent 干活全程可视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5541264"/>
            <a:ext cx="10543032" cy="438912"/>
          </a:xfrm>
          <a:prstGeom prst="rect">
            <a:avLst/>
          </a:prstGeom>
          <a:solidFill>
            <a:srgbClr val="1B2C47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" y="5541264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本质:把「敢让 Agent 写代码」从</a:t>
            </a:r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信任问题</a:t>
            </a:r>
            <a:pPr indent="0" marL="0">
              <a:buNone/>
            </a:pPr>
            <a:r>
              <a:rPr lang="en-US" sz="14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,变成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工程保障问题</a:t>
            </a:r>
            <a:pPr indent="0" marL="0">
              <a:buNone/>
            </a:pPr>
            <a:r>
              <a:rPr lang="en-US" sz="14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来源:README.md「为什么用 SillyHub」· .sillyspec/ 归档变更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" y="6455664"/>
            <a:ext cx="316291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85870" y="6455664"/>
            <a:ext cx="7380122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6" name="Text 34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885286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35578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1" name="Text 39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3" name="Text 41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5" name="Text 43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五个关键架构决策,及其权衡与回报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每个决策都有当时的两难 —— 不是理所当然,是权衡后的选择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481328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484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当时的权衡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7532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换来的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214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81328" y="20848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变更流程收敛为五段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208483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原流程含 scan/propose/quick 投影,太重,没人真正走完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75320" y="2084832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全队统一心智,CLI 与平台同构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816352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88950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81328" y="2852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控制面与执行面分离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34840" y="285292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团队代码不能上云,成员本机环境千差万别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75320" y="2852928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平台可集中托管,代码不出本机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584448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6576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81328" y="362102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工作区绑定 = daemon 实体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34840" y="362102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早期绑 runtime,实例漂移后归属说不清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75320" y="3621024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在线/离线/归属一目了然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4352544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442569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81328" y="43891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Provider 驱动式抽象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34840" y="438912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种 Agent 协议五花八门,逐个适配会失控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75320" y="4389120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 Agent 只加驱动,不碰控制面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" y="5120640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519379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193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81328" y="515721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OpenAPI 作为单一真相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434840" y="5157216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前端手写类型,与后端漂移成债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75320" y="5157216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类型自动生成,CI 卡漂移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来源:.sillyspec/ROADMAP.md §五 关键架构决策(累计)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2960" y="6455664"/>
            <a:ext cx="316291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85870" y="6455664"/>
            <a:ext cx="7380122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2" name="Text 40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885286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35578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7" name="Text 45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9" name="Text 47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1" name="Text 49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 · 方法论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方法论总纲:规范驱动 + 吃自己的狗粮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007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写的每一行代码,</a:t>
            </a:r>
            <a:pPr indent="0" marL="0">
              <a:buNone/>
            </a:pPr>
            <a:r>
              <a:rPr lang="en-US" sz="16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都有规可循、有迹可查、有人把关</a:t>
            </a:r>
            <a:pPr indent="0" marL="0">
              <a:buNone/>
            </a:pPr>
            <a:r>
              <a:rPr lang="en-US" sz="16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95728"/>
            <a:ext cx="2286000" cy="841248"/>
          </a:xfrm>
          <a:prstGeom prst="chevron">
            <a:avLst/>
          </a:prstGeom>
          <a:solidFill>
            <a:srgbClr val="155E75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39572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需求澄清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4670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63931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结构化梳理目标与边界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71216" y="2395728"/>
            <a:ext cx="2286000" cy="841248"/>
          </a:xfrm>
          <a:prstGeom prst="chevron">
            <a:avLst/>
          </a:prstGeom>
          <a:solidFill>
            <a:srgbClr val="155E75"/>
          </a:solidFill>
          <a:ln/>
        </p:spPr>
      </p:sp>
      <p:sp>
        <p:nvSpPr>
          <p:cNvPr id="11" name="Text 9"/>
          <p:cNvSpPr/>
          <p:nvPr/>
        </p:nvSpPr>
        <p:spPr>
          <a:xfrm>
            <a:off x="3163824" y="239572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方案与拆解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71216" y="334670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63931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设计决策 + Wave 任务排布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19472" y="2395728"/>
            <a:ext cx="2286000" cy="841248"/>
          </a:xfrm>
          <a:prstGeom prst="chevron">
            <a:avLst/>
          </a:prstGeom>
          <a:solidFill>
            <a:srgbClr val="155E75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39572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代码实现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19472" y="334670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74336" y="363931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在 worktree 实现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67728" y="2395728"/>
            <a:ext cx="2286000" cy="841248"/>
          </a:xfrm>
          <a:prstGeom prst="chevron">
            <a:avLst/>
          </a:prstGeom>
          <a:solidFill>
            <a:srgbClr val="155E75"/>
          </a:solidFill>
          <a:ln/>
        </p:spPr>
      </p:sp>
      <p:sp>
        <p:nvSpPr>
          <p:cNvPr id="19" name="Text 17"/>
          <p:cNvSpPr/>
          <p:nvPr/>
        </p:nvSpPr>
        <p:spPr>
          <a:xfrm>
            <a:off x="7260336" y="239572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验收验证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67728" y="334670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22592" y="363931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对照设计逐项核查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15984" y="2395728"/>
            <a:ext cx="2286000" cy="841248"/>
          </a:xfrm>
          <a:prstGeom prst="chevron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9308592" y="239572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归档沉淀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15984" y="334670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70848" y="363931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模块文档 + 里程碑回写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43159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↑ 阶段之间设评审门禁,不可跳段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4846320"/>
            <a:ext cx="10543032" cy="1024128"/>
          </a:xfrm>
          <a:prstGeom prst="rect">
            <a:avLst/>
          </a:prstGeom>
          <a:solidFill>
            <a:srgbClr val="1B2C47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4846320"/>
            <a:ext cx="10058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吃自己的狗粮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SillyHub 自身就用 SillySpec 构建: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2,176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个提交、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个归档变更全部走规范流程 —— 平台的每次演进,都是方法论的活样本。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来源:README.md「用 SillySpec 构建 SillyHub」· .sillyspec/changes/archive/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6455664"/>
            <a:ext cx="316291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85870" y="6455664"/>
            <a:ext cx="7380122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3" name="Text 31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885286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35578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8" name="Text 36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0" name="Text 38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2" name="Text 40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28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 · SillySpec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SillySpec:命令行里的规范驱动开发工具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SillyHub 的方法论原点 —— 用一套 CLI 把「怎么让 Agent 可靠写代码」固化成流程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一个跑在 Git 仓库里的 npm 命令行工具:</a:t>
            </a:r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每次改动先落结构化规格,再写代码,验收通过才归档。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7180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先文档,后代码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任何修改都必须能指回「依据哪份文档哪一条」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685032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59359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原生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每段流程都是 Agent 可直接执行的操作指令(技能)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306824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21538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过程即资产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规格、决策、日志全部落盘,可追溯、可复盘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029200"/>
            <a:ext cx="4892040" cy="841248"/>
          </a:xfrm>
          <a:prstGeom prst="rect">
            <a:avLst/>
          </a:prstGeom>
          <a:solidFill>
            <a:srgbClr val="1B2C47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02920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第一性规则: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禁止无依据改代码 —— 一行改动,一份规格。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5239512" cy="3950208"/>
          </a:xfrm>
          <a:prstGeom prst="roundRect">
            <a:avLst>
              <a:gd name="adj" fmla="val 1620"/>
            </a:avLst>
          </a:prstGeom>
          <a:solidFill>
            <a:srgbClr val="0E1526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82512" y="21031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过程资产,全部落在一个目录里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82512" y="2487168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.sillyspec/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├─ changes/ 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变更规格 · 四件套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│   ├─ archive/ 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219 个已归档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│   └─ 活跃变更 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46 个进行中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├─ docs/ 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scan 项目扫描文档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├─ knowledge/ 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经验与决策沉淀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├─ quicklog/ 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704 条快速修复日志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├─ workflows/ · projects/ 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流程定义 · 多项目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├─ ROADMAP.md 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做过/在做/待做 · 单一全貌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└─ sillyspec.db 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进度状态库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来源:github.com/q512426816/sillyspec · 本仓库 .sillyspec/ 实测计数(2026-08-28)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6455664"/>
            <a:ext cx="316291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85870" y="6455664"/>
            <a:ext cx="7380122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22" name="Text 20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85286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5578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27" name="Text 25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29" name="Text 27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1" name="Text 29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28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 · SillySpec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一套命令族,管住变更的一生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完整变更与快速修复双轨并行 —— 大改动走全流程,小修补也留痕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56816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完整变更 · 大改动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1828800" cy="841248"/>
          </a:xfrm>
          <a:prstGeom prst="roundRect">
            <a:avLst>
              <a:gd name="adj" fmla="val 7609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239572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96112" y="270662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需求澄清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88336" y="2706624"/>
            <a:ext cx="25603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80944" y="2286000"/>
            <a:ext cx="1828800" cy="841248"/>
          </a:xfrm>
          <a:prstGeom prst="roundRect">
            <a:avLst>
              <a:gd name="adj" fmla="val 7609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54096" y="239572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54096" y="270662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方案与拆解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706624"/>
            <a:ext cx="25603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38928" y="2286000"/>
            <a:ext cx="1828800" cy="841248"/>
          </a:xfrm>
          <a:prstGeom prst="roundRect">
            <a:avLst>
              <a:gd name="adj" fmla="val 7609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239572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12080" y="270662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按任务实现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04304" y="2706624"/>
            <a:ext cx="25603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96912" y="2286000"/>
            <a:ext cx="1828800" cy="841248"/>
          </a:xfrm>
          <a:prstGeom prst="roundRect">
            <a:avLst>
              <a:gd name="adj" fmla="val 7609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70064" y="239572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70064" y="270662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对照验收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62288" y="2706624"/>
            <a:ext cx="25603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454896" y="2286000"/>
            <a:ext cx="1828800" cy="841248"/>
          </a:xfrm>
          <a:prstGeom prst="roundRect">
            <a:avLst>
              <a:gd name="adj" fmla="val 7609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28048" y="239572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528048" y="270662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归档沉淀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325526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每个命令同时是一个技能(skill),人可以直接敲,Agent 也可以直接调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3785616"/>
            <a:ext cx="128016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1060704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快速修复 · 小改动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22960" y="4114800"/>
            <a:ext cx="3108960" cy="786384"/>
          </a:xfrm>
          <a:prstGeom prst="roundRect">
            <a:avLst>
              <a:gd name="adj" fmla="val 8140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87552" y="4206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直接修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87552" y="45171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小范围改动,不走全流程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968496" y="4507992"/>
            <a:ext cx="29260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297680" y="4114800"/>
            <a:ext cx="3108960" cy="786384"/>
          </a:xfrm>
          <a:prstGeom prst="roundRect">
            <a:avLst>
              <a:gd name="adj" fmla="val 8140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462272" y="4206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 QUICKLOG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462272" y="45171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ql-ID 编号,幂等可追溯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443216" y="4507992"/>
            <a:ext cx="292608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772400" y="4114800"/>
            <a:ext cx="3108960" cy="786384"/>
          </a:xfrm>
          <a:prstGeom prst="roundRect">
            <a:avLst>
              <a:gd name="adj" fmla="val 8140"/>
            </a:avLst>
          </a:prstGeom>
          <a:solidFill>
            <a:srgbClr val="121A2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936992" y="4206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平台可见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936992" y="45171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CLI 直推「快速修复」Tab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22960" y="5138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随时候命的辅助命令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22960" y="5440680"/>
            <a:ext cx="1645920" cy="384048"/>
          </a:xfrm>
          <a:prstGeom prst="roundRect">
            <a:avLst>
              <a:gd name="adj" fmla="val 21429"/>
            </a:avLst>
          </a:prstGeom>
          <a:solidFill>
            <a:srgbClr val="0E1526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4406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</a:t>
            </a:r>
            <a:pPr algn="ctr"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进度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78608" y="5440680"/>
            <a:ext cx="1645920" cy="384048"/>
          </a:xfrm>
          <a:prstGeom prst="roundRect">
            <a:avLst>
              <a:gd name="adj" fmla="val 21429"/>
            </a:avLst>
          </a:prstGeom>
          <a:solidFill>
            <a:srgbClr val="0E1526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78608" y="54406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</a:t>
            </a:r>
            <a:pPr algn="ctr"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续作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334256" y="5440680"/>
            <a:ext cx="1645920" cy="384048"/>
          </a:xfrm>
          <a:prstGeom prst="roundRect">
            <a:avLst>
              <a:gd name="adj" fmla="val 21429"/>
            </a:avLst>
          </a:prstGeom>
          <a:solidFill>
            <a:srgbClr val="0E1526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34256" y="54406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</a:t>
            </a:r>
            <a:pPr algn="ctr"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自检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089904" y="5440680"/>
            <a:ext cx="1645920" cy="384048"/>
          </a:xfrm>
          <a:prstGeom prst="roundRect">
            <a:avLst>
              <a:gd name="adj" fmla="val 21429"/>
            </a:avLst>
          </a:prstGeom>
          <a:solidFill>
            <a:srgbClr val="0E1526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9904" y="54406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</a:t>
            </a:r>
            <a:pPr algn="ctr"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45552" y="5440680"/>
            <a:ext cx="1645920" cy="384048"/>
          </a:xfrm>
          <a:prstGeom prst="roundRect">
            <a:avLst>
              <a:gd name="adj" fmla="val 21429"/>
            </a:avLst>
          </a:prstGeom>
          <a:solidFill>
            <a:srgbClr val="0E1526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45552" y="54406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</a:t>
            </a:r>
            <a:pPr algn="ctr"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601200" y="5440680"/>
            <a:ext cx="1645920" cy="384048"/>
          </a:xfrm>
          <a:prstGeom prst="roundRect">
            <a:avLst>
              <a:gd name="adj" fmla="val 21429"/>
            </a:avLst>
          </a:prstGeom>
          <a:solidFill>
            <a:srgbClr val="0E1526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0" y="54406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</a:t>
            </a:r>
            <a:pPr algn="ctr"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来源:仓库技能清单(sillyspec 命令族) · CLAUDE.md 流程规则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22960" y="6455664"/>
            <a:ext cx="316291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985870" y="6455664"/>
            <a:ext cx="7380122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8" name="Text 56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885286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935578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1" name="Text 59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63" name="Text 61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65" name="Text 63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67" name="Text 65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28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 · SillySpec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每个变更,留下一套可审计的档案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.sillyspec/changes/</a:t>
            </a:r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2026-08-19-cross-workspace-team-mission</a:t>
            </a:r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487168" cy="1627632"/>
          </a:xfrm>
          <a:prstGeom prst="roundRect">
            <a:avLst>
              <a:gd name="adj" fmla="val 3933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121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proposal.md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43230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为什么改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2798064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 · 边界 · 明确不做的事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11296" y="1965960"/>
            <a:ext cx="2487168" cy="1627632"/>
          </a:xfrm>
          <a:prstGeom prst="roundRect">
            <a:avLst>
              <a:gd name="adj" fmla="val 3933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94176" y="2121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design.md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94176" y="243230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怎么改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94176" y="2798064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技术方案 + D-00x 编号决策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9632" y="1965960"/>
            <a:ext cx="2487168" cy="1627632"/>
          </a:xfrm>
          <a:prstGeom prst="roundRect">
            <a:avLst>
              <a:gd name="adj" fmla="val 3933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82512" y="2121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plan.md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82512" y="243230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怎么拆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82512" y="2798064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Wave 分组 · 依赖 · 执行顺序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87968" y="1965960"/>
            <a:ext cx="2487168" cy="1627632"/>
          </a:xfrm>
          <a:prstGeom prst="roundRect">
            <a:avLst>
              <a:gd name="adj" fmla="val 3933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70848" y="2121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tasks.md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70848" y="243230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做什么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070848" y="2798064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逐任务清单与验收标准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3730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requirements.md / tasks/ 子目录 —— 按变更复杂度按需增补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4315968"/>
            <a:ext cx="1920240" cy="1188720"/>
          </a:xfrm>
          <a:prstGeom prst="roundRect">
            <a:avLst>
              <a:gd name="adj" fmla="val 5385"/>
            </a:avLst>
          </a:prstGeom>
          <a:solidFill>
            <a:srgbClr val="121A2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4480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60120" y="4791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归档不是终点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61488" y="491032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999232" y="4315968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163824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ROADMAP.md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163824" y="479145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里程碑与时间线回写,项目全貌常新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532120" y="491032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769864" y="4315968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34456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模块文档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34456" y="479145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scan 文档按影响面同步更新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302752" y="491032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540496" y="4315968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705088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705088" y="479145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决策与踩坑沉淀,下个变更复用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来源:.sillyspec/changes/archive/ 219 个归档变更 · 各变更均含四件套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2960" y="6455664"/>
            <a:ext cx="316291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85870" y="6455664"/>
            <a:ext cx="7380122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2" name="Text 40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885286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35578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7" name="Text 45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9" name="Text 47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1" name="Text 49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28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 · SillySpec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不止管变更,还管经验沉淀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变更是过程,知识是复利 —— 沉淀体系让每个坑只踩一次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19202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decisions/ 决策账本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53312" y="22860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按模块沉淀 D-001~ 编号决策;新变更设计前先查旧决策,不重复纠结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852928"/>
            <a:ext cx="66568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98094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8895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scan 扫描文档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53312" y="325526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CONVENTIONS / ARCHITECTURE / 模块文档,Agent 动手前的项目地图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822192"/>
            <a:ext cx="66568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9502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385876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工具缺陷账本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53312" y="422452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docs/sillyspec/ 记录工具坑;修复确认后移入 finished,反哺上游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791456"/>
            <a:ext cx="66568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9194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919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53312" y="48280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gotchas 模式库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53312" y="519379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sillyspec-gotchas / testing-gotchas / patterns,踩过的坑不再踩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63840" y="1956816"/>
            <a:ext cx="3502152" cy="3749040"/>
          </a:xfrm>
          <a:prstGeom prst="roundRect">
            <a:avLst>
              <a:gd name="adj" fmla="val 1828"/>
            </a:avLst>
          </a:prstGeom>
          <a:solidFill>
            <a:srgbClr val="0E152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19872" y="21762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反哺上游 · 工具缺陷闭环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19872" y="2505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SillySpec 管 SillySpec 的 bug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19872" y="294436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8119872" y="3675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份缺陷记录已闭环(finished/)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119872" y="411480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119872" y="4645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份活跃待修(docs/sillyspec/)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19872" y="5138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工具本身也在被这套流程持续打磨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来源:.sillyspec/knowledge/ · docs/sillyspec/(2026-08-28 实测计数)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" y="6455664"/>
            <a:ext cx="316291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85870" y="6455664"/>
            <a:ext cx="7380122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7" name="Text 35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885286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35578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2" name="Text 40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4" name="Text 42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6" name="Text 44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28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 · SillySpec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CLI 到平台:同一方法论的两次形态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21408"/>
            <a:ext cx="10543032" cy="0"/>
          </a:xfrm>
          <a:prstGeom prst="line">
            <a:avLst/>
          </a:prstGeom>
          <a:noFill/>
          <a:ln w="19050">
            <a:solidFill>
              <a:srgbClr val="155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86584" y="2061972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556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 · 单人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432304"/>
            <a:ext cx="3246120" cy="2926080"/>
          </a:xfrm>
          <a:prstGeom prst="roundRect">
            <a:avLst>
              <a:gd name="adj" fmla="val 2188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61518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SillySpec CLI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9848" y="327355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298448" y="31089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npm CLI,开源独立演进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69848" y="3931920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8448" y="37673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命令族驱动单仓 .sillyspec/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69848" y="4590288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298448" y="44256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先于平台存在,已验证流程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05656" y="3895344"/>
            <a:ext cx="329184" cy="0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35040" y="2061972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4471416" y="17556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桥接 · 自动化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71416" y="2432304"/>
            <a:ext cx="3246120" cy="2926080"/>
          </a:xfrm>
          <a:prstGeom prst="roundRect">
            <a:avLst>
              <a:gd name="adj" fmla="val 2188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0016" y="261518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daemon 桥接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18304" y="327355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4946904" y="31089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init 触发 sillyspec init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18304" y="3931920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4946904" y="37673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spec 文件增量同步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18304" y="4590288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4946904" y="44256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progress dump 实时读进度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54112" y="3895344"/>
            <a:ext cx="329184" cy="0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83496" y="2061972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8119872" y="17556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 · 团队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19872" y="2432304"/>
            <a:ext cx="3246120" cy="2926080"/>
          </a:xfrm>
          <a:prstGeom prst="roundRect">
            <a:avLst>
              <a:gd name="adj" fmla="val 2188"/>
            </a:avLst>
          </a:prstGeom>
          <a:solidFill>
            <a:srgbClr val="121A2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48472" y="261518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SillyHub 平台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66760" y="3273552"/>
            <a:ext cx="109728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8595360" y="31089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变更中心 · 多工作区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66760" y="3931920"/>
            <a:ext cx="109728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8595360" y="37673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多人 RBAC 协作与审批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66760" y="4590288"/>
            <a:ext cx="109728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8595360" y="44256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编排与安全边界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2960" y="5541264"/>
            <a:ext cx="10543032" cy="438912"/>
          </a:xfrm>
          <a:prstGeom prst="rect">
            <a:avLst/>
          </a:prstGeom>
          <a:solidFill>
            <a:srgbClr val="1B2C47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5541264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两侧共用同一套 .sillyspec/ 目录契约</a:t>
            </a:r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—— 平台不是另起炉灶:CLI 验证过的流程,原样放大到团队。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来源:README.md · ROADMAP init-trigger-sillyspec-init / spec-file-incremental-sync(2026-08)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2960" y="6455664"/>
            <a:ext cx="316291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85870" y="6455664"/>
            <a:ext cx="7380122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4" name="Text 42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885286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35578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9" name="Text 47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1" name="Text 49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3" name="Text 51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28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平台功能汇报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功能怎么讲:按一次真实交付的顺序走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八个能力域不是平铺的菜单 —— 从接入到交付,是一条完整的旅程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317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接入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2186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工作空间·扫描·拓扑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14016" y="2688336"/>
            <a:ext cx="146304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2331720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23317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变更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514600" y="32186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五段流程·门禁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97096" y="2688336"/>
            <a:ext cx="146304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89120" y="2331720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34840" y="23317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执行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297680" y="32186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会话·流式·恢复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0176" y="2688336"/>
            <a:ext cx="146304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72200" y="2331720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23317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协作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080760" y="32186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Agent·跨工作区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63256" y="2688336"/>
            <a:ext cx="146304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955280" y="2331720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01000" y="23317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治理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863840" y="32186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RBAC·策略·共享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546336" y="2688336"/>
            <a:ext cx="146304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738360" y="2331720"/>
            <a:ext cx="1554480" cy="713232"/>
          </a:xfrm>
          <a:prstGeom prst="roundRect">
            <a:avLst>
              <a:gd name="adj" fmla="val 8974"/>
            </a:avLst>
          </a:prstGeom>
          <a:solidFill>
            <a:srgbClr val="121A2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784080" y="23317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⑥ 交付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646920" y="32186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PPM·文件·知识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" y="4160520"/>
            <a:ext cx="10543032" cy="777240"/>
          </a:xfrm>
          <a:prstGeom prst="rect">
            <a:avLst/>
          </a:prstGeom>
          <a:solidFill>
            <a:srgbClr val="1B2C47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4160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六站走完 = 平台全部八个能力域。</a:t>
            </a:r>
            <a:pPr indent="0" marL="0">
              <a:buNone/>
            </a:pPr>
            <a:r>
              <a:rPr lang="en-US" sz="14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接下来六页逐站展开,每站讲清:做什么、怎么做、做到什么程度。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960" y="525780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1024128" y="51389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工作空间管理 · 变更全生命周期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520440" y="525780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3721608" y="51389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编排 · 团队多智能体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7920" y="525780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088" y="51389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安全与权限 · 文件中心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915400" y="525780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9116568" y="51389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PPM 项目管理 · 知识与治理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来源:README.md 核心能力(八域)· 本页为章节导览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" y="6455664"/>
            <a:ext cx="527151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94476" y="6455664"/>
            <a:ext cx="527151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3" name="Text 41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5" name="Text 43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99389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44184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8" name="Text 46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0" name="Text 48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2" name="Text 50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28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功能汇报 · 旅程① 接入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接入:一个 Git 仓库,五步变成可治理的工作空间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975104" cy="1481328"/>
          </a:xfrm>
          <a:prstGeom prst="roundRect">
            <a:avLst>
              <a:gd name="adj" fmla="val 4321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305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55E7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26464" y="21305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5786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填仓库地址与信息,平台建档工作空间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25496" y="2697480"/>
            <a:ext cx="914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44368" y="1965960"/>
            <a:ext cx="1975104" cy="1481328"/>
          </a:xfrm>
          <a:prstGeom prst="roundRect">
            <a:avLst>
              <a:gd name="adj" fmla="val 4321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27248" y="21305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55E75"/>
          </a:solidFill>
          <a:ln/>
        </p:spPr>
      </p:sp>
      <p:sp>
        <p:nvSpPr>
          <p:cNvPr id="13" name="Text 11"/>
          <p:cNvSpPr/>
          <p:nvPr/>
        </p:nvSpPr>
        <p:spPr>
          <a:xfrm>
            <a:off x="3127248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47872" y="21305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27248" y="25786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识别组件与依赖,生成拓扑图和项目文档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46904" y="2697480"/>
            <a:ext cx="914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65776" y="1965960"/>
            <a:ext cx="1975104" cy="1481328"/>
          </a:xfrm>
          <a:prstGeom prst="roundRect">
            <a:avLst>
              <a:gd name="adj" fmla="val 4321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48656" y="21305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55E75"/>
          </a:solidFill>
          <a:ln/>
        </p:spPr>
      </p:sp>
      <p:sp>
        <p:nvSpPr>
          <p:cNvPr id="19" name="Text 17"/>
          <p:cNvSpPr/>
          <p:nvPr/>
        </p:nvSpPr>
        <p:spPr>
          <a:xfrm>
            <a:off x="5248656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21305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48656" y="25786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类角色:前端/后端/全栈/文档/部署…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68312" y="2697480"/>
            <a:ext cx="914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87184" y="1965960"/>
            <a:ext cx="1975104" cy="1481328"/>
          </a:xfrm>
          <a:prstGeom prst="roundRect">
            <a:avLst>
              <a:gd name="adj" fmla="val 4321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70064" y="21305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55E75"/>
          </a:solidFill>
          <a:ln/>
        </p:spPr>
      </p:sp>
      <p:sp>
        <p:nvSpPr>
          <p:cNvPr id="25" name="Text 23"/>
          <p:cNvSpPr/>
          <p:nvPr/>
        </p:nvSpPr>
        <p:spPr>
          <a:xfrm>
            <a:off x="7370064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90688" y="21305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绑定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70064" y="25786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成员把本机 daemon 绑到工作区,代码本机跑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189720" y="2697480"/>
            <a:ext cx="914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308592" y="1965960"/>
            <a:ext cx="1975104" cy="1481328"/>
          </a:xfrm>
          <a:prstGeom prst="roundRect">
            <a:avLst>
              <a:gd name="adj" fmla="val 4321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491472" y="21305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55E75"/>
          </a:solidFill>
          <a:ln/>
        </p:spPr>
      </p:sp>
      <p:sp>
        <p:nvSpPr>
          <p:cNvPr id="31" name="Text 29"/>
          <p:cNvSpPr/>
          <p:nvPr/>
        </p:nvSpPr>
        <p:spPr>
          <a:xfrm>
            <a:off x="9491472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912096" y="21305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注入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491472" y="25786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自动写入 CLAUDE.md 指令与 spec 骨架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22960" y="3886200"/>
            <a:ext cx="118872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5" name="Text 33"/>
          <p:cNvSpPr/>
          <p:nvPr/>
        </p:nvSpPr>
        <p:spPr>
          <a:xfrm>
            <a:off x="1078992" y="37947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工作区即组件(component-as-workspace)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子仓库也是工作区,跨仓协作按同一套模型管理,项目维度按角色定位各工作区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22960" y="4690872"/>
            <a:ext cx="118872" cy="1188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1078992" y="459943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绑定即授权边界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daemon 归属、allowed_roots、worktree 隔离,全部以「成员-工作区」绑定关系为锚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22960" y="5440680"/>
            <a:ext cx="10543032" cy="502920"/>
          </a:xfrm>
          <a:prstGeom prst="rect">
            <a:avLst/>
          </a:prstGeom>
          <a:solidFill>
            <a:srgbClr val="1B2C47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54406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新成员体验:</a:t>
            </a:r>
            <a:pPr indent="0" marL="0">
              <a:buNone/>
            </a:pPr>
            <a:r>
              <a:rPr lang="en-US" sz="13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首次绑定时 daemon 自动拉取 spec 骨架、注入项目指令 —— Agent 第一句话就懂项目规矩。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来源:ROADMAP workspace-role-type(8 类角色)· init-trigger-sillyspec-init(指令注入)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2960" y="6455664"/>
            <a:ext cx="527151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94476" y="6455664"/>
            <a:ext cx="527151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4" name="Text 42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6" name="Text 44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99389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44184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9" name="Text 47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1" name="Text 49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3" name="Text 51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28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功能汇报 · 旅程② 变更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变更中心:每一次改动都有档案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55E7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5623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926080" y="18562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需求澄清,结构化问答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78408" y="2240280"/>
            <a:ext cx="0" cy="420624"/>
          </a:xfrm>
          <a:prstGeom prst="line">
            <a:avLst/>
          </a:prstGeom>
          <a:noFill/>
          <a:ln w="15875">
            <a:solidFill>
              <a:srgbClr val="155E7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14400" y="2377440"/>
            <a:ext cx="128016" cy="128016"/>
          </a:xfrm>
          <a:prstGeom prst="diamond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2313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评审门禁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73405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55E7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157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26080" y="27157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技术方案 + 任务拆解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8408" y="3099816"/>
            <a:ext cx="0" cy="420624"/>
          </a:xfrm>
          <a:prstGeom prst="line">
            <a:avLst/>
          </a:prstGeom>
          <a:noFill/>
          <a:ln w="15875">
            <a:solidFill>
              <a:srgbClr val="155E7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14400" y="3236976"/>
            <a:ext cx="128016" cy="128016"/>
          </a:xfrm>
          <a:prstGeom prst="diamond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3172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评审门禁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35935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55E7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593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57530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926080" y="35753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实现,实时流式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8408" y="3959352"/>
            <a:ext cx="0" cy="420624"/>
          </a:xfrm>
          <a:prstGeom prst="line">
            <a:avLst/>
          </a:prstGeom>
          <a:noFill/>
          <a:ln w="15875">
            <a:solidFill>
              <a:srgbClr val="155E7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914400" y="4096512"/>
            <a:ext cx="128016" cy="128016"/>
          </a:xfrm>
          <a:prstGeom prst="diamond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1207008" y="4032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评审门禁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4531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55E75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44348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926080" y="44348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对照设计验收验证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78408" y="4818888"/>
            <a:ext cx="0" cy="420624"/>
          </a:xfrm>
          <a:prstGeom prst="line">
            <a:avLst/>
          </a:prstGeom>
          <a:noFill/>
          <a:ln w="15875">
            <a:solidFill>
              <a:srgbClr val="155E7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14400" y="4956048"/>
            <a:ext cx="128016" cy="128016"/>
          </a:xfrm>
          <a:prstGeom prst="diamond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1207008" y="4892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评审门禁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" y="53126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55E75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312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280160" y="529437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2926080" y="52943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归档沉淀,回写里程碑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1874520"/>
            <a:ext cx="5056632" cy="1207008"/>
          </a:xfrm>
          <a:prstGeom prst="roundRect">
            <a:avLst>
              <a:gd name="adj" fmla="val 5303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565392" y="2130552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9" name="Text 37"/>
          <p:cNvSpPr/>
          <p:nvPr/>
        </p:nvSpPr>
        <p:spPr>
          <a:xfrm>
            <a:off x="6803136" y="202082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状态机驱动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803136" y="238658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阶段流转受控、不可跳段;每阶段产物独立可查,进度实时同步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09360" y="3246120"/>
            <a:ext cx="5056632" cy="1207008"/>
          </a:xfrm>
          <a:prstGeom prst="roundRect">
            <a:avLst>
              <a:gd name="adj" fmla="val 5303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65392" y="3502152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3" name="Text 41"/>
          <p:cNvSpPr/>
          <p:nvPr/>
        </p:nvSpPr>
        <p:spPr>
          <a:xfrm>
            <a:off x="6803136" y="339242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快速修复双链路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03136" y="375818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CLI quicklog 直推平台 + 平台解析兜底,变更中心第三 Tab 展示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309360" y="4617720"/>
            <a:ext cx="5056632" cy="1207008"/>
          </a:xfrm>
          <a:prstGeom prst="roundRect">
            <a:avLst>
              <a:gd name="adj" fmla="val 5303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565392" y="4873752"/>
            <a:ext cx="128016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6803136" y="476402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spec 增量同步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803136" y="512978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文件级 diff + 乐观锁 + 墓碑对账,CLI 与平台两侧永远一致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来源:ROADMAP change-center-quick-tab / platform-managed-file-sync(2026-08)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22960" y="6455664"/>
            <a:ext cx="527151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94476" y="6455664"/>
            <a:ext cx="527151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3" name="Text 51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5" name="Text 53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99389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44184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8" name="Text 56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60" name="Text 58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62" name="Text 60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功能汇报 · 旅程③ 执行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执行:和 Agent 干活的全套体验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从开一个会话,到关掉电脑明天接着干 —— 中间每一环都打磨过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120640" cy="1783080"/>
          </a:xfrm>
          <a:prstGeom prst="roundRect">
            <a:avLst>
              <a:gd name="adj" fmla="val 3590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8992" y="225856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1335024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创建会话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258775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选工作区(自动带出在线机器)、选智能体档案与 provider;工作区上下文与说明书自动注入,Agent 开口就懂项目。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965960"/>
            <a:ext cx="5120640" cy="1783080"/>
          </a:xfrm>
          <a:prstGeom prst="roundRect">
            <a:avLst>
              <a:gd name="adj" fmla="val 3590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01384" y="225856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6757416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实时流式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01384" y="258775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SSE 逐字输出;工具调用单行卡、思考折叠跟随、子代理嵌套时间线、轮级计时状态条 —— 它在干什么一目了然。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931920"/>
            <a:ext cx="5120640" cy="1783080"/>
          </a:xfrm>
          <a:prstGeom prst="roundRect">
            <a:avLst>
              <a:gd name="adj" fmla="val 3590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8992" y="4224528"/>
            <a:ext cx="128016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1335024" y="4096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永不断线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8992" y="455371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会话重开有恢复钥匙(落库);断线 180 秒自动兜底;输入可排队(上限 5),Agent 忙完自动投递,关窗也能续。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3931920"/>
            <a:ext cx="5120640" cy="1783080"/>
          </a:xfrm>
          <a:prstGeom prst="roundRect">
            <a:avLst>
              <a:gd name="adj" fmla="val 3590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01384" y="422452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6757416" y="4096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人机协同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01384" y="455371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敏感操作弹权限卡片,人工放行;Agent 经上传 MCP 把产物传回平台;附件与产物在线预览(图/PDF/docx/md)。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来源:ROADMAP session-reopen-resume / session-message-queue / agent-file-upload-mcp(2026-08)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6455664"/>
            <a:ext cx="527151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4476" y="6455664"/>
            <a:ext cx="527151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26" name="Text 24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28" name="Text 26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9389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44184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3" name="Text 31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5" name="Text 33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28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功能汇报 · 旅程④ 协作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编排:一个人指挥一支 Agent 团队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种宿主 Agent · 6 种协议适配</a:t>
            </a:r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 新增 Agent 只加驱动,不碰控制面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645920" cy="365760"/>
          </a:xfrm>
          <a:prstGeom prst="roundRect">
            <a:avLst>
              <a:gd name="adj" fmla="val 2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78608" y="2103120"/>
            <a:ext cx="1645920" cy="365760"/>
          </a:xfrm>
          <a:prstGeom prst="roundRect">
            <a:avLst>
              <a:gd name="adj" fmla="val 2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4256" y="2103120"/>
            <a:ext cx="1645920" cy="365760"/>
          </a:xfrm>
          <a:prstGeom prst="roundRect">
            <a:avLst>
              <a:gd name="adj" fmla="val 2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34256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9904" y="2103120"/>
            <a:ext cx="1645920" cy="365760"/>
          </a:xfrm>
          <a:prstGeom prst="roundRect">
            <a:avLst>
              <a:gd name="adj" fmla="val 2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9904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45552" y="2103120"/>
            <a:ext cx="1645920" cy="365760"/>
          </a:xfrm>
          <a:prstGeom prst="roundRect">
            <a:avLst>
              <a:gd name="adj" fmla="val 2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5552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0" y="2103120"/>
            <a:ext cx="1645920" cy="365760"/>
          </a:xfrm>
          <a:prstGeom prst="roundRect">
            <a:avLst>
              <a:gd name="adj" fmla="val 2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2560320"/>
            <a:ext cx="1645920" cy="365760"/>
          </a:xfrm>
          <a:prstGeom prst="roundRect">
            <a:avLst>
              <a:gd name="adj" fmla="val 2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78608" y="2560320"/>
            <a:ext cx="1645920" cy="365760"/>
          </a:xfrm>
          <a:prstGeom prst="roundRect">
            <a:avLst>
              <a:gd name="adj" fmla="val 2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34256" y="2560320"/>
            <a:ext cx="1645920" cy="365760"/>
          </a:xfrm>
          <a:prstGeom prst="roundRect">
            <a:avLst>
              <a:gd name="adj" fmla="val 2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34256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9904" y="2560320"/>
            <a:ext cx="1645920" cy="365760"/>
          </a:xfrm>
          <a:prstGeom prst="roundRect">
            <a:avLst>
              <a:gd name="adj" fmla="val 2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9904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45552" y="2560320"/>
            <a:ext cx="1645920" cy="365760"/>
          </a:xfrm>
          <a:prstGeom prst="roundRect">
            <a:avLst>
              <a:gd name="adj" fmla="val 2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45552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01200" y="2560320"/>
            <a:ext cx="1645920" cy="365760"/>
          </a:xfrm>
          <a:prstGeom prst="roundRect">
            <a:avLst>
              <a:gd name="adj" fmla="val 2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324612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60120" y="33558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 Agent 会话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3703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理解目标 · 动态拆解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00400" y="3767328"/>
            <a:ext cx="310896" cy="0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566160" y="324612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703320" y="33558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Workers 并行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57600" y="3703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跨工作区派发 · worktree 隔离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943600" y="3767328"/>
            <a:ext cx="310896" cy="0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309360" y="324612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46520" y="33558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收敛合并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0" y="3703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三重收敛 · 预算硬截断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686800" y="3767328"/>
            <a:ext cx="310896" cy="0"/>
          </a:xfrm>
          <a:prstGeom prst="line">
            <a:avLst/>
          </a:prstGeom>
          <a:noFill/>
          <a:ln w="22225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052560" y="324612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121A2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189720" y="33558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144000" y="3703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分支合并 · 产物归档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22960" y="4736592"/>
            <a:ext cx="118872" cy="1188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1060704" y="46085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层 </a:t>
            </a:r>
            <a:pPr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递归会话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060704" y="499262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主控 → 分身 → 孙,深度受控、预算强收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434840" y="4736592"/>
            <a:ext cx="118872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9" name="Text 47"/>
          <p:cNvSpPr/>
          <p:nvPr/>
        </p:nvSpPr>
        <p:spPr>
          <a:xfrm>
            <a:off x="4672584" y="46085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完整子会话 </a:t>
            </a:r>
            <a:pPr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分身即会话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4672584" y="499262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流式输出 · 追问 · 权限卡片 · 断点恢复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046720" y="4736592"/>
            <a:ext cx="118872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2" name="Text 50"/>
          <p:cNvSpPr/>
          <p:nvPr/>
        </p:nvSpPr>
        <p:spPr>
          <a:xfrm>
            <a:off x="8284464" y="46085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跨工作区 </a:t>
            </a:r>
            <a:pPr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项目级派发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284464" y="499262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按项目定位工作区,代表绑定在线优先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来源:ROADMAP team-subsession P0-P2(2026-08-26)· cross-workspace-team-mission(2026-08-19)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22960" y="6455664"/>
            <a:ext cx="527151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94476" y="6455664"/>
            <a:ext cx="527151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8" name="Text 56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60" name="Text 58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99389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44184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3" name="Text 61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65" name="Text 63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67" name="Text 65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28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功能汇报 · 旅程⑤ 治理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安全与协作:敢共享,是因为有边界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7510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53312" y="188366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身份与权限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53312" y="2249424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多用户 · 组织树 · RBAC 菜单权限 · Git 凭据网关,共享服务器也安全隔离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16352"/>
            <a:ext cx="630936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4436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285292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归属校验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53312" y="3218688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claim / lease / 心跳三锚点链 + 常量时间比较,借不走别人的守护进程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785616"/>
            <a:ext cx="630936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1363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53312" y="382219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执行边界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53312" y="4187952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文件系统策略引擎 · allowed_roots 交集收紧 · 每变更独立 worktree 隔离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754880"/>
            <a:ext cx="630936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88289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53312" y="479145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授权共享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5157216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grants 统一授权表:守护进程共享 + 平台共享智能体,E2E 三攻防全拦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52360" y="1920240"/>
            <a:ext cx="3913632" cy="3749040"/>
          </a:xfrm>
          <a:prstGeom prst="roundRect">
            <a:avLst>
              <a:gd name="adj" fmla="val 1707"/>
            </a:avLst>
          </a:prstGeom>
          <a:solidFill>
            <a:srgbClr val="0E152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26680" y="21396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安全专项 · 2026-08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2668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多代理安全审查后全流程修复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2668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+ 7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726680" y="3383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高危 + 中危,全部修复闭环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26680" y="37673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/ +6,035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726680" y="4224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个文件 / 行变更,含实测证据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26680" y="46085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726680" y="5065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个新增安全测试,进回归基线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26680" y="5358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双层审批:工具级放行 + 阶段级评审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来源:ROADMAP security-audit-remediation(2026-08-15)· daemon-agent-share(2026-08-28)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" y="6455664"/>
            <a:ext cx="527151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4476" y="6455664"/>
            <a:ext cx="527151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8" name="Text 36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0" name="Text 38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99389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44184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5" name="Text 43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7" name="Text 45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28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功能汇报 · 旅程⑥ 交付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交付:从代码合入,到项目复盘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代码合入不是终点 —— 交付物、进度、经验都要有归宿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3392424" cy="3611880"/>
          </a:xfrm>
          <a:prstGeom prst="roundRect">
            <a:avLst>
              <a:gd name="adj" fmla="val 1887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78992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PPM 项目管理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2487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首个上线模块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78992" y="297180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88950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项目与计划节点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里程碑拆解,进度可视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78992" y="361188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52958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任务与问题清单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执行到人,问题闭环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78992" y="425196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16966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看板与甘特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资源表列宽可拖拽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78992" y="489204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80974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生产环境运行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吃自己的进度管理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34840" y="1920240"/>
            <a:ext cx="3392424" cy="3611880"/>
          </a:xfrm>
          <a:prstGeom prst="roundRect">
            <a:avLst>
              <a:gd name="adj" fmla="val 1887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90872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文件与产物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90872" y="2487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一条产物流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90872" y="297180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88950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MinIO 文件中心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S3 兼容,上传下载分发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90872" y="361188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52958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会话附件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发文件给 Agent 即点即看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90872" y="425196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416966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产物归档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 MCP 自动回传平台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90872" y="489204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480974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权限跟随工作区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能看会话即可下载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46720" y="1920240"/>
            <a:ext cx="3392424" cy="3611880"/>
          </a:xfrm>
          <a:prstGeom prst="roundRect">
            <a:avLst>
              <a:gd name="adj" fmla="val 1887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02752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知识与发布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02752" y="2487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经验飞轮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02752" y="297180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288950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知识库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经验沉淀,全文可搜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302752" y="361188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352958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事件复盘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线上事件记录归档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302752" y="425196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16966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发布审批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发布前有人签字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302752" y="489204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80974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提供商管理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启停/默认,cc-switch 风格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22960" y="5650992"/>
            <a:ext cx="10543032" cy="384048"/>
          </a:xfrm>
          <a:prstGeom prst="rect">
            <a:avLst/>
          </a:prstGeom>
          <a:solidFill>
            <a:srgbClr val="1B2C47"/>
          </a:solidFill>
          <a:ln/>
        </p:spPr>
      </p:sp>
      <p:sp>
        <p:nvSpPr>
          <p:cNvPr id="40" name="Text 38"/>
          <p:cNvSpPr/>
          <p:nvPr/>
        </p:nvSpPr>
        <p:spPr>
          <a:xfrm>
            <a:off x="1097280" y="565099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交付闭环:</a:t>
            </a:r>
            <a:pPr indent="0" marL="0">
              <a:buNone/>
            </a:pPr>
            <a:r>
              <a:rPr lang="en-US" sz="13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复盘进知识库 → 经验反哺下一个变更 → 平台越用越聪明,形成飞轮。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来源:README.md 核心能力 · CLAUDE.md(PPM 模块已上线)· ROADMAP agent-file-upload-mcp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2960" y="6455664"/>
            <a:ext cx="527151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94476" y="6455664"/>
            <a:ext cx="527151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5" name="Text 43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7" name="Text 45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99389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44184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0" name="Text 48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2" name="Text 50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4" name="Text 52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28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平台功能汇报 · 亮点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亮点①:六个「别家没有」的技术点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不是功能清单的重复 —— 每一条都是踩过坑才做出来的硬能力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2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个技术亮点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逐条都有归档变更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与测试证据背书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17520" y="1947672"/>
            <a:ext cx="118872" cy="1188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273552" y="184708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分身 = 完整子会话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1847088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worker 不是后台脚本:可流式、可追问、可恢复;支持 3 层递归 + 预算强收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2505456"/>
            <a:ext cx="834847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2642616"/>
            <a:ext cx="118872" cy="1188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273552" y="254203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会话永不丢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2542032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恢复钥匙落库 + 双端确认 + 60s 巡检兜底 —— 断电重启也能接着干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3200400"/>
            <a:ext cx="834847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3337560"/>
            <a:ext cx="118872" cy="1188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3273552" y="3236976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spec 墓碑同步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3236976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文件级增量 + 乐观锁 + 墓碑对账,CLI 与平台两侧永不错位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3895344"/>
            <a:ext cx="834847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4032504"/>
            <a:ext cx="118872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39319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单一 API 真相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3931920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 OpenAPI 一处定义,前端类型自动生成,CI 卡漂移零手写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17520" y="4590288"/>
            <a:ext cx="834847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4727448"/>
            <a:ext cx="118872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3273552" y="462686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全链路实时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72200" y="4626864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Redis Pub/Sub 16 个写入点 + SSE 变更信号,列表日志进度零刷新更新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17520" y="5285232"/>
            <a:ext cx="834847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17520" y="5422392"/>
            <a:ext cx="118872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3273552" y="532180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执行在本地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72200" y="5321808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daemon 策略引擎 + worktree 隔离 —— 代码不出本机,也受平台治理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来源:ROADMAP team-subsession-recursion / spec-mirror-tombstone-sync 等归档变更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" y="6455664"/>
            <a:ext cx="527151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94476" y="6455664"/>
            <a:ext cx="527151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6" name="Text 34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8" name="Text 36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9389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44184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3" name="Text 41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5" name="Text 43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28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平台功能汇报 · 亮点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亮点②:工程成效,数字说话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四个月、三端、全流程 —— 每个数字都能现场溯源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2,176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次提交  </a:t>
            </a:r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全部可追溯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862072"/>
            <a:ext cx="429768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0779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9,000+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2960" y="35478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自动化测试  </a:t>
            </a:r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三端全绿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895344"/>
            <a:ext cx="429768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4106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22960" y="45811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归档变更  </a:t>
            </a:r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四件套齐全 · 46 个活跃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928616"/>
            <a:ext cx="4297680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97433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+ 7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22960" y="56144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安全高危+中危  </a:t>
            </a:r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专项审查全部修复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60720" y="1874520"/>
            <a:ext cx="5605272" cy="3931920"/>
          </a:xfrm>
          <a:prstGeom prst="roundRect">
            <a:avLst>
              <a:gd name="adj" fmla="val 1628"/>
            </a:avLst>
          </a:prstGeom>
          <a:solidFill>
            <a:srgbClr val="0E1526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月度提交量(次)</a:t>
            </a:r>
            <a:endParaRPr lang="en-US" sz="13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989320" y="2468880"/>
          <a:ext cx="5166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数据来源:git log(2026-08-28)· ROADMAP 全量测试记录 · security-audit-remediation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" y="6455664"/>
            <a:ext cx="527151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94476" y="6455664"/>
            <a:ext cx="5271516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24" name="Text 21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26" name="Text 23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993892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44184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6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1" name="Text 28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3" name="Text 30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28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坦诚:当前不足与技术债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债不可怕,看不见才可怕 —— 全部记录在 ROADMAP 公开维护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47672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E1526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4767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81328" y="192024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scan 扫描文档结构性过期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92024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套扫描文档停在旧提交,影响归档与影响分析;已立项全量重跑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542032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606040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E1526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0604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81328" y="2578608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sillyspec.db 进度库失效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578608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CLI status/resume 暂失灵,以目录为准;恢复关联已在计划中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26440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E15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6440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81328" y="323697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双视图文档重复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3236976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同一仓库注册两个 project,各生成一套扫描文档;待合并收敛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858768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922776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E15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22776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81328" y="38953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migration 待部署验证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0" y="3895344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daemon 实体重构等数据库迁移,未在真实部署中 apply 验证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4517136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581144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E1526"/>
          </a:solidFill>
          <a:ln w="15875">
            <a:solidFill>
              <a:srgbClr val="93A5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58114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481328" y="455371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平台整体尚未上线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0" y="4553712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目前仅 PPM 模块投产;全量上线依赖 Docker 镜像重建与验收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5175504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5239512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0E1526"/>
          </a:solidFill>
          <a:ln w="15875">
            <a:solidFill>
              <a:srgbClr val="93A5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23951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481328" y="52120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零星测试债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114800" y="521208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个别历史变更遗留测试基线,CI 之外需人工补跑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来源:.sillyspec/ROADMAP.md §四 已知技术债/风险(2026-08-28)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" y="6455664"/>
            <a:ext cx="7380122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03082" y="6455664"/>
            <a:ext cx="316291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9" name="Text 37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1" name="Text 39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3" name="Text 41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02498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52790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8" name="Text 46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28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踩过的坑,和它们教会我们的事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四次真金白银的返工 —— 每次都换回一条写进流程的规矩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476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1883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daemon 整体重写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53312" y="2267712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起步按后端团队惯性用 Python 写 daemon;但 Agent SDK 生态在 Node,双轨维护一个月后果断整体重写。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2121408"/>
            <a:ext cx="118872" cy="1188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1975104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教训 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执行面选型跟 SDK 生态走,不跟团队舒适区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871216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9718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53312" y="2907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OnlyOffice 上线又退役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53312" y="329184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为中文公文高保真预览引入 OnlyOffice;引擎不支持 docGrid 行网格、页数漂移不可修,最终整体退役休眠。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35240" y="3145536"/>
            <a:ext cx="118872" cy="1188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2999232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教训 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不可替代能力先做证伪实验,再全链路投入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895344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9959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53312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前端类型手写之债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53312" y="431596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api-types.ts 长期手写,与后端接口漂移、排查成本高;改为 OpenAPI 自动生成 + CI 卡漂移。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35240" y="4169664"/>
            <a:ext cx="118872" cy="1188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402336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教训 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契约优先:生成优于手写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4919472"/>
            <a:ext cx="10543032" cy="0"/>
          </a:xfrm>
          <a:prstGeom prst="line">
            <a:avLst/>
          </a:prstGeom>
          <a:noFill/>
          <a:ln w="9525">
            <a:solidFill>
              <a:srgbClr val="2430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502005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E1526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02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53312" y="4956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spec 镜像只增不删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353312" y="534009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 spec 镜像与真实目录错位(41 vs 24),改名/删除永久残留;补墓碑对账机制才收敛。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635240" y="5193792"/>
            <a:ext cx="118872" cy="1188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5047488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教训 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双向同步,第一天就要考虑删除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来源:ROADMAP 归档变更 daemon-service-split / onlyoffice-preview / spec-mirror-tombstone-sync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" y="6455664"/>
            <a:ext cx="7380122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03082" y="6455664"/>
            <a:ext cx="3162910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7" name="Text 35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9" name="Text 37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1" name="Text 39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02498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52790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4" name="Text 42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270541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6" name="Text 44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28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21792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502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时间线,继续向前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9509760" cy="0"/>
          </a:xfrm>
          <a:prstGeom prst="line">
            <a:avLst/>
          </a:prstGeom>
          <a:noFill/>
          <a:ln w="25400">
            <a:solidFill>
              <a:srgbClr val="155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2377440"/>
            <a:ext cx="100584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17420" y="2308860"/>
            <a:ext cx="137160" cy="13716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A0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105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进行中 </a:t>
            </a:r>
            <a:pPr algn="ctr" indent="0" marL="0">
              <a:buNone/>
            </a:pPr>
            <a:r>
              <a:rPr lang="en-US" sz="1050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3200400" cy="2331720"/>
          </a:xfrm>
          <a:prstGeom prst="roundRect">
            <a:avLst>
              <a:gd name="adj" fmla="val 2745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23544" y="313639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133856" y="2916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子代理 transcript 三端沉淀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3544" y="3666744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33856" y="3447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delegate_task 运行时验证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" y="4197096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133856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文档救火 · scan 全量重跑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3544" y="4727448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1133856" y="4507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sillyspec.db 进度恢复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37860" y="2308860"/>
            <a:ext cx="137160" cy="13716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A0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8105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P3 · 体验 </a:t>
            </a:r>
            <a:pPr algn="ctr" indent="0" marL="0">
              <a:buNone/>
            </a:pPr>
            <a:r>
              <a:rPr lang="en-US" sz="1050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06240" y="2697480"/>
            <a:ext cx="3200400" cy="2331720"/>
          </a:xfrm>
          <a:prstGeom prst="roundRect">
            <a:avLst>
              <a:gd name="adj" fmla="val 2745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43984" y="313639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4654296" y="2916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分身行 → 子会话面板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43984" y="3666744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4654296" y="3447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会话门户父子分组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43984" y="4197096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4654296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SSE 按需开流(连接优化)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43984" y="4727448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4654296" y="4507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移动端与无障碍打磨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258300" y="2308860"/>
            <a:ext cx="137160" cy="137160"/>
          </a:xfrm>
          <a:prstGeom prst="ellipse">
            <a:avLst/>
          </a:prstGeom>
          <a:solidFill>
            <a:srgbClr val="8B5CF6"/>
          </a:solidFill>
          <a:ln w="19050">
            <a:solidFill>
              <a:srgbClr val="0A0F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18105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更远 </a:t>
            </a:r>
            <a:pPr algn="ctr" indent="0" marL="0">
              <a:buNone/>
            </a:pPr>
            <a:r>
              <a:rPr lang="en-US" sz="1050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726680" y="2697480"/>
            <a:ext cx="3200400" cy="2331720"/>
          </a:xfrm>
          <a:prstGeom prst="roundRect">
            <a:avLst>
              <a:gd name="adj" fmla="val 2745"/>
            </a:avLst>
          </a:prstGeom>
          <a:solidFill>
            <a:srgbClr val="121A2F"/>
          </a:solidFill>
          <a:ln w="12700">
            <a:solidFill>
              <a:srgbClr val="2A38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64424" y="3136392"/>
            <a:ext cx="109728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8174736" y="2916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全量部署上线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64424" y="3666744"/>
            <a:ext cx="109728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8174736" y="3447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多项目规模化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64424" y="4197096"/>
            <a:ext cx="109728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8174736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团队自治深化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64424" y="4727448"/>
            <a:ext cx="109728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8174736" y="4507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开放集成(MCP 生态)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2960" y="5349240"/>
            <a:ext cx="10543032" cy="566928"/>
          </a:xfrm>
          <a:prstGeom prst="rect">
            <a:avLst/>
          </a:prstGeom>
          <a:solidFill>
            <a:srgbClr val="1B2C47"/>
          </a:solidFill>
          <a:ln/>
        </p:spPr>
      </p:sp>
      <p:sp>
        <p:nvSpPr>
          <p:cNvPr id="41" name="Text 39"/>
          <p:cNvSpPr/>
          <p:nvPr/>
        </p:nvSpPr>
        <p:spPr>
          <a:xfrm>
            <a:off x="1097280" y="53492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下一站首选:</a:t>
            </a:r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重建 Docker 镜像完成全量部署验证 —— 让「平台整体上线」从 P2 债务栏,挪进里程碑栏。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822960" y="60624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来源:docs/team-subsession-roadmap-2026-08-25.md · ROADMAP §三 短期计划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2960" y="6455664"/>
            <a:ext cx="9488729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11689" y="6455664"/>
            <a:ext cx="1054303" cy="0"/>
          </a:xfrm>
          <a:prstGeom prst="line">
            <a:avLst/>
          </a:prstGeom>
          <a:noFill/>
          <a:ln w="12700">
            <a:solidFill>
              <a:srgbClr val="24304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36115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6" name="Text 44"/>
          <p:cNvSpPr/>
          <p:nvPr/>
        </p:nvSpPr>
        <p:spPr>
          <a:xfrm>
            <a:off x="917143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944722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48" name="Text 46"/>
          <p:cNvSpPr/>
          <p:nvPr/>
        </p:nvSpPr>
        <p:spPr>
          <a:xfrm>
            <a:off x="3025750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053328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0" name="Text 48"/>
          <p:cNvSpPr/>
          <p:nvPr/>
        </p:nvSpPr>
        <p:spPr>
          <a:xfrm>
            <a:off x="5134356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161934" y="6414516"/>
            <a:ext cx="82296" cy="82296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2" name="Text 50"/>
          <p:cNvSpPr/>
          <p:nvPr/>
        </p:nvSpPr>
        <p:spPr>
          <a:xfrm>
            <a:off x="7242962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0211105" y="6355080"/>
            <a:ext cx="201168" cy="201168"/>
          </a:xfrm>
          <a:prstGeom prst="ellipse">
            <a:avLst/>
          </a:prstGeom>
          <a:solidFill>
            <a:srgbClr val="0A0F1E">
              <a:alpha val="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261397" y="6405372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5" name="Text 53"/>
          <p:cNvSpPr/>
          <p:nvPr/>
        </p:nvSpPr>
        <p:spPr>
          <a:xfrm>
            <a:off x="9351569" y="6565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543032" y="6062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28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852160" cy="5852160"/>
          </a:xfrm>
          <a:prstGeom prst="ellipse">
            <a:avLst/>
          </a:prstGeom>
          <a:solidFill>
            <a:srgbClr val="155E75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023360" cy="402336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47088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SILLYHUB · MULTI-AGENT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Agent 在团队里,可靠地写代码。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多智能体协作管理平台 · 用 SillySpec 构建 · 规范驱动开发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10543032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65992" y="4846320"/>
            <a:ext cx="384048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22399" y="479145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917143" y="5029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平台是什么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006" y="479145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3025750" y="5029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为什么要搭建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9612" y="479145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5134356" y="5029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功能与亮点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48218" y="479145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7242962" y="5029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不足与教训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256825" y="479145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9351569" y="5029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F2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未来发展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0" y="5029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5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谢谢观看 · 2026-08-28 · 欢迎提问(细节都可现场溯源)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SillyHub 多智能体协作管理平台 · 功能介绍</dc:title>
  <dc:subject>PptxGenJS Presentation</dc:subject>
  <dc:creator>SillyHub</dc:creator>
  <cp:lastModifiedBy>SillyHub</cp:lastModifiedBy>
  <cp:revision>1</cp:revision>
  <dcterms:created xsi:type="dcterms:W3CDTF">2026-08-28T04:04:14Z</dcterms:created>
  <dcterms:modified xsi:type="dcterms:W3CDTF">2026-08-28T04:04:14Z</dcterms:modified>
</cp:coreProperties>
</file>